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89" r:id="rId4"/>
    <p:sldId id="290" r:id="rId5"/>
    <p:sldId id="260" r:id="rId6"/>
    <p:sldId id="291" r:id="rId7"/>
    <p:sldId id="292" r:id="rId8"/>
    <p:sldId id="293" r:id="rId9"/>
    <p:sldId id="294" r:id="rId10"/>
    <p:sldId id="295" r:id="rId11"/>
    <p:sldId id="296" r:id="rId12"/>
    <p:sldId id="297" r:id="rId13"/>
    <p:sldId id="298" r:id="rId14"/>
    <p:sldId id="299" r:id="rId15"/>
    <p:sldId id="300" r:id="rId16"/>
    <p:sldId id="30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CA81E905-2720-4FFE-A897-C6790173FF0F}" type="datetimeFigureOut">
              <a:rPr lang="en-IN" smtClean="0"/>
              <a:t>13-01-2026</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8504CCD6-5134-4457-A597-09B42912618C}" type="slidenum">
              <a:rPr lang="en-IN" smtClean="0"/>
              <a:t>‹#›</a:t>
            </a:fld>
            <a:endParaRPr lang="en-IN"/>
          </a:p>
        </p:txBody>
      </p:sp>
    </p:spTree>
    <p:extLst>
      <p:ext uri="{BB962C8B-B14F-4D97-AF65-F5344CB8AC3E}">
        <p14:creationId xmlns:p14="http://schemas.microsoft.com/office/powerpoint/2010/main" val="3903726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2394661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81E905-2720-4FFE-A897-C6790173FF0F}"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439200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81E905-2720-4FFE-A897-C6790173FF0F}" type="datetimeFigureOut">
              <a:rPr lang="en-IN" smtClean="0"/>
              <a:t>13-01-2026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1519624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81E905-2720-4FFE-A897-C6790173FF0F}" type="datetimeFigureOut">
              <a:rPr lang="en-IN" smtClean="0"/>
              <a:t>13-01-2026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2475287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81E905-2720-4FFE-A897-C6790173FF0F}" type="datetimeFigureOut">
              <a:rPr lang="en-IN" smtClean="0"/>
              <a:t>13-01-2026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1662939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81E905-2720-4FFE-A897-C6790173FF0F}" type="datetimeFigureOut">
              <a:rPr lang="en-IN" smtClean="0"/>
              <a:t>13-01-2026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3929822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CA81E905-2720-4FFE-A897-C6790173FF0F}" type="datetimeFigureOut">
              <a:rPr lang="en-IN" smtClean="0"/>
              <a:t>13-01-2026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8504CCD6-5134-4457-A597-09B42912618C}" type="slidenum">
              <a:rPr lang="en-IN" smtClean="0"/>
              <a:t>‹#›</a:t>
            </a:fld>
            <a:endParaRPr lang="en-IN"/>
          </a:p>
        </p:txBody>
      </p:sp>
    </p:spTree>
    <p:extLst>
      <p:ext uri="{BB962C8B-B14F-4D97-AF65-F5344CB8AC3E}">
        <p14:creationId xmlns:p14="http://schemas.microsoft.com/office/powerpoint/2010/main" val="3181096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CA81E905-2720-4FFE-A897-C6790173FF0F}" type="datetimeFigureOut">
              <a:rPr lang="en-IN" smtClean="0"/>
              <a:t>13-01-2026</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8504CCD6-5134-4457-A597-09B42912618C}" type="slidenum">
              <a:rPr lang="en-IN" smtClean="0"/>
              <a:t>‹#›</a:t>
            </a:fld>
            <a:endParaRPr lang="en-IN"/>
          </a:p>
        </p:txBody>
      </p:sp>
    </p:spTree>
    <p:extLst>
      <p:ext uri="{BB962C8B-B14F-4D97-AF65-F5344CB8AC3E}">
        <p14:creationId xmlns:p14="http://schemas.microsoft.com/office/powerpoint/2010/main" val="33282207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397795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1E905-2720-4FFE-A897-C6790173FF0F}"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04CCD6-5134-4457-A597-09B42912618C}" type="slidenum">
              <a:rPr lang="en-IN" smtClean="0"/>
              <a:t>‹#›</a:t>
            </a:fld>
            <a:endParaRPr lang="en-IN"/>
          </a:p>
        </p:txBody>
      </p:sp>
    </p:spTree>
    <p:extLst>
      <p:ext uri="{BB962C8B-B14F-4D97-AF65-F5344CB8AC3E}">
        <p14:creationId xmlns:p14="http://schemas.microsoft.com/office/powerpoint/2010/main" val="3301743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CA81E905-2720-4FFE-A897-C6790173FF0F}" type="datetimeFigureOut">
              <a:rPr lang="en-IN" smtClean="0"/>
              <a:t>13-01-2026</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8504CCD6-5134-4457-A597-09B42912618C}" type="slidenum">
              <a:rPr lang="en-IN" smtClean="0"/>
              <a:t>‹#›</a:t>
            </a:fld>
            <a:endParaRPr lang="en-IN"/>
          </a:p>
        </p:txBody>
      </p:sp>
    </p:spTree>
    <p:extLst>
      <p:ext uri="{BB962C8B-B14F-4D97-AF65-F5344CB8AC3E}">
        <p14:creationId xmlns:p14="http://schemas.microsoft.com/office/powerpoint/2010/main" val="161004092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0CCA1DE-153B-2CC5-DA50-D12A382A1EC5}"/>
              </a:ext>
            </a:extLst>
          </p:cNvPr>
          <p:cNvSpPr>
            <a:spLocks noGrp="1"/>
          </p:cNvSpPr>
          <p:nvPr>
            <p:ph type="ctrTitle"/>
          </p:nvPr>
        </p:nvSpPr>
        <p:spPr>
          <a:xfrm>
            <a:off x="943898" y="882376"/>
            <a:ext cx="10294374" cy="2926080"/>
          </a:xfrm>
        </p:spPr>
        <p:txBody>
          <a:bodyPr>
            <a:normAutofit/>
          </a:bodyPr>
          <a:lstStyle/>
          <a:p>
            <a:r>
              <a:rPr lang="en-US" sz="6600" dirty="0"/>
              <a:t>INFORMATION TECHNOLOGY</a:t>
            </a:r>
            <a:endParaRPr lang="en-IN" sz="6600" dirty="0"/>
          </a:p>
        </p:txBody>
      </p:sp>
      <p:sp>
        <p:nvSpPr>
          <p:cNvPr id="8" name="Subtitle 7">
            <a:extLst>
              <a:ext uri="{FF2B5EF4-FFF2-40B4-BE49-F238E27FC236}">
                <a16:creationId xmlns:a16="http://schemas.microsoft.com/office/drawing/2014/main" id="{1F0C4E3B-C20B-B2AD-E6CD-EF8D67000DD1}"/>
              </a:ext>
            </a:extLst>
          </p:cNvPr>
          <p:cNvSpPr>
            <a:spLocks noGrp="1"/>
          </p:cNvSpPr>
          <p:nvPr>
            <p:ph type="subTitle" idx="1"/>
          </p:nvPr>
        </p:nvSpPr>
        <p:spPr>
          <a:xfrm>
            <a:off x="7354528" y="3808456"/>
            <a:ext cx="4463845" cy="1388165"/>
          </a:xfrm>
        </p:spPr>
        <p:txBody>
          <a:bodyPr/>
          <a:lstStyle/>
          <a:p>
            <a:r>
              <a:rPr lang="en-US" dirty="0"/>
              <a:t>By Ankita Dawn</a:t>
            </a:r>
            <a:endParaRPr lang="en-IN" dirty="0"/>
          </a:p>
        </p:txBody>
      </p:sp>
    </p:spTree>
    <p:extLst>
      <p:ext uri="{BB962C8B-B14F-4D97-AF65-F5344CB8AC3E}">
        <p14:creationId xmlns:p14="http://schemas.microsoft.com/office/powerpoint/2010/main" val="1198340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7BD422-C48D-99ED-1720-203DA77F0267}"/>
              </a:ext>
            </a:extLst>
          </p:cNvPr>
          <p:cNvSpPr>
            <a:spLocks noGrp="1"/>
          </p:cNvSpPr>
          <p:nvPr>
            <p:ph type="title"/>
          </p:nvPr>
        </p:nvSpPr>
        <p:spPr>
          <a:xfrm>
            <a:off x="615253" y="609600"/>
            <a:ext cx="9875520" cy="835742"/>
          </a:xfrm>
        </p:spPr>
        <p:txBody>
          <a:bodyPr/>
          <a:lstStyle/>
          <a:p>
            <a:r>
              <a:rPr lang="en-US" b="1" dirty="0"/>
              <a:t>What is Information Technology ?</a:t>
            </a:r>
            <a:endParaRPr lang="en-IN" b="1" dirty="0"/>
          </a:p>
        </p:txBody>
      </p:sp>
      <p:sp>
        <p:nvSpPr>
          <p:cNvPr id="7" name="Content Placeholder 6">
            <a:extLst>
              <a:ext uri="{FF2B5EF4-FFF2-40B4-BE49-F238E27FC236}">
                <a16:creationId xmlns:a16="http://schemas.microsoft.com/office/drawing/2014/main" id="{5BE530A4-2DCC-7CCC-BC73-B3D1F5B8A3E5}"/>
              </a:ext>
            </a:extLst>
          </p:cNvPr>
          <p:cNvSpPr>
            <a:spLocks noGrp="1"/>
          </p:cNvSpPr>
          <p:nvPr>
            <p:ph idx="1"/>
          </p:nvPr>
        </p:nvSpPr>
        <p:spPr>
          <a:xfrm>
            <a:off x="615253" y="1587910"/>
            <a:ext cx="10931013" cy="4660490"/>
          </a:xfrm>
        </p:spPr>
        <p:txBody>
          <a:bodyPr anchor="ctr">
            <a:normAutofit fontScale="85000" lnSpcReduction="10000"/>
          </a:bodyPr>
          <a:lstStyle/>
          <a:p>
            <a:pPr marL="0" indent="0">
              <a:lnSpc>
                <a:spcPct val="120000"/>
              </a:lnSpc>
              <a:buNone/>
            </a:pPr>
            <a:r>
              <a:rPr lang="en-US" sz="3400" dirty="0"/>
              <a:t>Information Technology (IT) is basically everything involved in using computers and tech to create, store, process, and share information.</a:t>
            </a:r>
            <a:endParaRPr lang="en-US" sz="3000" dirty="0"/>
          </a:p>
          <a:p>
            <a:pPr marL="45720" indent="0">
              <a:buNone/>
            </a:pPr>
            <a:r>
              <a:rPr lang="en-US" sz="3600" b="1" dirty="0"/>
              <a:t>Components of Information Technology (IT):</a:t>
            </a:r>
          </a:p>
          <a:p>
            <a:r>
              <a:rPr lang="en-US" b="1" dirty="0"/>
              <a:t>Hardware</a:t>
            </a:r>
            <a:r>
              <a:rPr lang="en-US" dirty="0"/>
              <a:t> – physical devices</a:t>
            </a:r>
          </a:p>
          <a:p>
            <a:r>
              <a:rPr lang="en-US" b="1" dirty="0"/>
              <a:t>Software</a:t>
            </a:r>
            <a:r>
              <a:rPr lang="en-US" dirty="0"/>
              <a:t> – programs and applications</a:t>
            </a:r>
          </a:p>
          <a:p>
            <a:r>
              <a:rPr lang="en-US" b="1" dirty="0"/>
              <a:t>Data</a:t>
            </a:r>
            <a:r>
              <a:rPr lang="en-US" dirty="0"/>
              <a:t> – information stored and processed</a:t>
            </a:r>
          </a:p>
          <a:p>
            <a:r>
              <a:rPr lang="en-US" b="1" dirty="0"/>
              <a:t>Networking</a:t>
            </a:r>
            <a:r>
              <a:rPr lang="en-US" dirty="0"/>
              <a:t> – communication between devices</a:t>
            </a:r>
          </a:p>
          <a:p>
            <a:r>
              <a:rPr lang="en-US" b="1" dirty="0"/>
              <a:t>People</a:t>
            </a:r>
            <a:r>
              <a:rPr lang="en-US" dirty="0"/>
              <a:t> – users and IT professionals</a:t>
            </a:r>
          </a:p>
          <a:p>
            <a:r>
              <a:rPr lang="en-US" b="1" dirty="0"/>
              <a:t>Processes</a:t>
            </a:r>
            <a:r>
              <a:rPr lang="en-US" dirty="0"/>
              <a:t> – rules and procedures</a:t>
            </a:r>
          </a:p>
          <a:p>
            <a:r>
              <a:rPr lang="en-US" b="1" dirty="0"/>
              <a:t>Security</a:t>
            </a:r>
            <a:r>
              <a:rPr lang="en-US" dirty="0"/>
              <a:t> – protection of systems and data</a:t>
            </a:r>
          </a:p>
        </p:txBody>
      </p:sp>
    </p:spTree>
    <p:extLst>
      <p:ext uri="{BB962C8B-B14F-4D97-AF65-F5344CB8AC3E}">
        <p14:creationId xmlns:p14="http://schemas.microsoft.com/office/powerpoint/2010/main" val="3844694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7AA72-236C-24A1-8EAB-0C4C64E486F1}"/>
              </a:ext>
            </a:extLst>
          </p:cNvPr>
          <p:cNvSpPr>
            <a:spLocks noGrp="1"/>
          </p:cNvSpPr>
          <p:nvPr>
            <p:ph type="title"/>
          </p:nvPr>
        </p:nvSpPr>
        <p:spPr/>
        <p:txBody>
          <a:bodyPr/>
          <a:lstStyle/>
          <a:p>
            <a:r>
              <a:rPr lang="en-US" b="1" dirty="0"/>
              <a:t>Role of IT in Business Operations</a:t>
            </a:r>
            <a:endParaRPr lang="en-IN" b="1" dirty="0"/>
          </a:p>
        </p:txBody>
      </p:sp>
      <p:sp>
        <p:nvSpPr>
          <p:cNvPr id="3" name="Content Placeholder 2">
            <a:extLst>
              <a:ext uri="{FF2B5EF4-FFF2-40B4-BE49-F238E27FC236}">
                <a16:creationId xmlns:a16="http://schemas.microsoft.com/office/drawing/2014/main" id="{13D5D0D8-99B2-3C27-5530-D4C37BED106A}"/>
              </a:ext>
            </a:extLst>
          </p:cNvPr>
          <p:cNvSpPr>
            <a:spLocks noGrp="1"/>
          </p:cNvSpPr>
          <p:nvPr>
            <p:ph idx="1"/>
          </p:nvPr>
        </p:nvSpPr>
        <p:spPr>
          <a:xfrm>
            <a:off x="1143000" y="2057400"/>
            <a:ext cx="10232923" cy="4038600"/>
          </a:xfrm>
        </p:spPr>
        <p:txBody>
          <a:bodyPr anchor="ctr">
            <a:normAutofit/>
          </a:bodyPr>
          <a:lstStyle/>
          <a:p>
            <a:pPr marL="0" lvl="0" indent="0" eaLnBrk="0" fontAlgn="base" hangingPunct="0">
              <a:lnSpc>
                <a:spcPct val="150000"/>
              </a:lnSpc>
              <a:spcBef>
                <a:spcPct val="0"/>
              </a:spcBef>
              <a:spcAft>
                <a:spcPct val="0"/>
              </a:spcAft>
              <a:buClrTx/>
              <a:buSzTx/>
              <a:buFontTx/>
              <a:buAutoNum type="arabicPeriod"/>
            </a:pPr>
            <a:r>
              <a:rPr lang="en-US" altLang="en-US" sz="2400" dirty="0">
                <a:solidFill>
                  <a:schemeClr val="accent5">
                    <a:lumMod val="75000"/>
                  </a:schemeClr>
                </a:solidFill>
                <a:latin typeface="Arial" panose="020B0604020202020204" pitchFamily="34" charset="0"/>
              </a:rPr>
              <a:t>IT helps businesses carry out daily activities faster and more efficiently.</a:t>
            </a:r>
          </a:p>
          <a:p>
            <a:pPr marL="0" lvl="0" indent="0" eaLnBrk="0" fontAlgn="base" hangingPunct="0">
              <a:lnSpc>
                <a:spcPct val="150000"/>
              </a:lnSpc>
              <a:spcBef>
                <a:spcPct val="0"/>
              </a:spcBef>
              <a:spcAft>
                <a:spcPct val="0"/>
              </a:spcAft>
              <a:buClrTx/>
              <a:buSzTx/>
              <a:buFontTx/>
              <a:buAutoNum type="arabicPeriod" startAt="2"/>
            </a:pPr>
            <a:r>
              <a:rPr lang="en-US" altLang="en-US" sz="2400" dirty="0">
                <a:solidFill>
                  <a:schemeClr val="accent5">
                    <a:lumMod val="75000"/>
                  </a:schemeClr>
                </a:solidFill>
                <a:latin typeface="Arial" panose="020B0604020202020204" pitchFamily="34" charset="0"/>
              </a:rPr>
              <a:t>It enables smooth communication within the organization and with customers.</a:t>
            </a:r>
          </a:p>
          <a:p>
            <a:pPr marL="0" lvl="0" indent="0" eaLnBrk="0" fontAlgn="base" hangingPunct="0">
              <a:lnSpc>
                <a:spcPct val="150000"/>
              </a:lnSpc>
              <a:spcBef>
                <a:spcPct val="0"/>
              </a:spcBef>
              <a:spcAft>
                <a:spcPct val="0"/>
              </a:spcAft>
              <a:buClrTx/>
              <a:buSzTx/>
              <a:buFontTx/>
              <a:buAutoNum type="arabicPeriod" startAt="3"/>
            </a:pPr>
            <a:r>
              <a:rPr lang="en-US" altLang="en-US" sz="2400" dirty="0">
                <a:solidFill>
                  <a:schemeClr val="accent5">
                    <a:lumMod val="75000"/>
                  </a:schemeClr>
                </a:solidFill>
                <a:latin typeface="Arial" panose="020B0604020202020204" pitchFamily="34" charset="0"/>
              </a:rPr>
              <a:t>IT supports accurate storage, processing, and use of business information.</a:t>
            </a:r>
          </a:p>
          <a:p>
            <a:pPr marL="0" lvl="0" indent="0" eaLnBrk="0" fontAlgn="base" hangingPunct="0">
              <a:lnSpc>
                <a:spcPct val="150000"/>
              </a:lnSpc>
              <a:spcBef>
                <a:spcPct val="0"/>
              </a:spcBef>
              <a:spcAft>
                <a:spcPct val="0"/>
              </a:spcAft>
              <a:buClrTx/>
              <a:buSzTx/>
              <a:buFontTx/>
              <a:buAutoNum type="arabicPeriod" startAt="4"/>
            </a:pPr>
            <a:r>
              <a:rPr lang="en-US" altLang="en-US" sz="2400" dirty="0">
                <a:solidFill>
                  <a:schemeClr val="accent5">
                    <a:lumMod val="75000"/>
                  </a:schemeClr>
                </a:solidFill>
                <a:latin typeface="Arial" panose="020B0604020202020204" pitchFamily="34" charset="0"/>
              </a:rPr>
              <a:t>It helps managers make better decisions through reports and analysis.</a:t>
            </a:r>
          </a:p>
          <a:p>
            <a:pPr marL="0" lvl="0" indent="0" eaLnBrk="0" fontAlgn="base" hangingPunct="0">
              <a:lnSpc>
                <a:spcPct val="150000"/>
              </a:lnSpc>
              <a:spcBef>
                <a:spcPct val="0"/>
              </a:spcBef>
              <a:spcAft>
                <a:spcPct val="0"/>
              </a:spcAft>
              <a:buClrTx/>
              <a:buSzTx/>
              <a:buFontTx/>
              <a:buAutoNum type="arabicPeriod" startAt="5"/>
            </a:pPr>
            <a:r>
              <a:rPr lang="en-US" altLang="en-US" sz="2400" dirty="0">
                <a:solidFill>
                  <a:schemeClr val="accent5">
                    <a:lumMod val="75000"/>
                  </a:schemeClr>
                </a:solidFill>
                <a:latin typeface="Arial" panose="020B0604020202020204" pitchFamily="34" charset="0"/>
              </a:rPr>
              <a:t>IT ensures business data and systems are kept safe and reliable.</a:t>
            </a:r>
          </a:p>
        </p:txBody>
      </p:sp>
    </p:spTree>
    <p:extLst>
      <p:ext uri="{BB962C8B-B14F-4D97-AF65-F5344CB8AC3E}">
        <p14:creationId xmlns:p14="http://schemas.microsoft.com/office/powerpoint/2010/main" val="3039059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F206-4B64-5317-644A-D43E56A5AD9D}"/>
              </a:ext>
            </a:extLst>
          </p:cNvPr>
          <p:cNvSpPr>
            <a:spLocks noGrp="1"/>
          </p:cNvSpPr>
          <p:nvPr>
            <p:ph type="title"/>
          </p:nvPr>
        </p:nvSpPr>
        <p:spPr>
          <a:xfrm>
            <a:off x="589935" y="560438"/>
            <a:ext cx="9875520" cy="806245"/>
          </a:xfrm>
        </p:spPr>
        <p:txBody>
          <a:bodyPr/>
          <a:lstStyle/>
          <a:p>
            <a:r>
              <a:rPr lang="en-IN" b="1" dirty="0"/>
              <a:t>Overview of Business Systems</a:t>
            </a:r>
          </a:p>
        </p:txBody>
      </p:sp>
      <p:sp>
        <p:nvSpPr>
          <p:cNvPr id="3" name="Content Placeholder 2">
            <a:extLst>
              <a:ext uri="{FF2B5EF4-FFF2-40B4-BE49-F238E27FC236}">
                <a16:creationId xmlns:a16="http://schemas.microsoft.com/office/drawing/2014/main" id="{FA093773-8C40-FFD5-8946-1F9C059B2427}"/>
              </a:ext>
            </a:extLst>
          </p:cNvPr>
          <p:cNvSpPr>
            <a:spLocks noGrp="1"/>
          </p:cNvSpPr>
          <p:nvPr>
            <p:ph idx="1"/>
          </p:nvPr>
        </p:nvSpPr>
        <p:spPr>
          <a:xfrm>
            <a:off x="526025" y="1150374"/>
            <a:ext cx="11139949" cy="5476568"/>
          </a:xfrm>
        </p:spPr>
        <p:txBody>
          <a:bodyPr anchor="ctr">
            <a:normAutofit/>
          </a:bodyPr>
          <a:lstStyle/>
          <a:p>
            <a:pPr marL="45720" indent="0">
              <a:lnSpc>
                <a:spcPct val="110000"/>
              </a:lnSpc>
              <a:spcBef>
                <a:spcPts val="600"/>
              </a:spcBef>
              <a:buNone/>
            </a:pPr>
            <a:r>
              <a:rPr lang="en-US" sz="2000" dirty="0"/>
              <a:t>Business systems are computer-based information systems used to support, manage, and integrate business operations. They help organizations improve efficiency, coordination, decision-making, and customer satisfaction.</a:t>
            </a:r>
          </a:p>
          <a:p>
            <a:pPr>
              <a:buSzPct val="120000"/>
              <a:buFont typeface="Arial" panose="020B0604020202020204" pitchFamily="34" charset="0"/>
              <a:buChar char="•"/>
            </a:pPr>
            <a:r>
              <a:rPr lang="en-US" sz="2600" b="1" dirty="0"/>
              <a:t>ERP (Enterprise Resource Planning): </a:t>
            </a:r>
            <a:r>
              <a:rPr lang="en-US" sz="2000" dirty="0"/>
              <a:t>ERP integrates major internal business processes—such as finance, human resources, production, and inventory—into a single centralized system.</a:t>
            </a:r>
            <a:br>
              <a:rPr lang="en-US" dirty="0"/>
            </a:br>
            <a:endParaRPr lang="en-US" dirty="0"/>
          </a:p>
          <a:p>
            <a:pPr>
              <a:buSzPct val="120000"/>
              <a:buFont typeface="Arial" panose="020B0604020202020204" pitchFamily="34" charset="0"/>
              <a:buChar char="•"/>
            </a:pPr>
            <a:r>
              <a:rPr lang="en-US" sz="2600" b="1" dirty="0"/>
              <a:t>CRM (Customer Relationship Management): </a:t>
            </a:r>
            <a:r>
              <a:rPr lang="en-US" sz="2000" dirty="0"/>
              <a:t>CRM focuses on managing customer information and interactions, including sales, marketing, and customer service.</a:t>
            </a:r>
            <a:br>
              <a:rPr lang="en-US" sz="2000" dirty="0"/>
            </a:br>
            <a:endParaRPr lang="en-US" sz="2000" dirty="0"/>
          </a:p>
          <a:p>
            <a:pPr>
              <a:buSzPct val="120000"/>
            </a:pPr>
            <a:r>
              <a:rPr lang="en-US" sz="2600" b="1" dirty="0"/>
              <a:t>SCM (Supply Chain Management):</a:t>
            </a:r>
            <a:r>
              <a:rPr lang="en-US" b="1" dirty="0"/>
              <a:t> </a:t>
            </a:r>
            <a:r>
              <a:rPr lang="en-US" sz="2000" dirty="0"/>
              <a:t>SCM manages the flow of goods, information, and finances from suppliers to customers, covering procurement, production, and distribution.</a:t>
            </a:r>
            <a:br>
              <a:rPr lang="en-US" sz="2000" dirty="0"/>
            </a:br>
            <a:endParaRPr lang="en-US" sz="2000" dirty="0"/>
          </a:p>
        </p:txBody>
      </p:sp>
    </p:spTree>
    <p:extLst>
      <p:ext uri="{BB962C8B-B14F-4D97-AF65-F5344CB8AC3E}">
        <p14:creationId xmlns:p14="http://schemas.microsoft.com/office/powerpoint/2010/main" val="3455106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8DD0-30F6-9785-9798-647FD91A14F6}"/>
              </a:ext>
            </a:extLst>
          </p:cNvPr>
          <p:cNvSpPr>
            <a:spLocks noGrp="1"/>
          </p:cNvSpPr>
          <p:nvPr>
            <p:ph type="title"/>
          </p:nvPr>
        </p:nvSpPr>
        <p:spPr>
          <a:xfrm>
            <a:off x="1143000" y="609600"/>
            <a:ext cx="10370574" cy="1356360"/>
          </a:xfrm>
        </p:spPr>
        <p:txBody>
          <a:bodyPr>
            <a:normAutofit fontScale="90000"/>
          </a:bodyPr>
          <a:lstStyle/>
          <a:p>
            <a:r>
              <a:rPr lang="en-US" b="1" dirty="0"/>
              <a:t>Interplay Between IT and Business Strategy</a:t>
            </a:r>
            <a:endParaRPr lang="en-IN" b="1" dirty="0"/>
          </a:p>
        </p:txBody>
      </p:sp>
      <p:sp>
        <p:nvSpPr>
          <p:cNvPr id="3" name="Text Placeholder 2">
            <a:extLst>
              <a:ext uri="{FF2B5EF4-FFF2-40B4-BE49-F238E27FC236}">
                <a16:creationId xmlns:a16="http://schemas.microsoft.com/office/drawing/2014/main" id="{4A83426F-112E-FAEA-A273-A0C8A5A2F5E4}"/>
              </a:ext>
            </a:extLst>
          </p:cNvPr>
          <p:cNvSpPr>
            <a:spLocks noGrp="1"/>
          </p:cNvSpPr>
          <p:nvPr>
            <p:ph type="body" idx="1"/>
          </p:nvPr>
        </p:nvSpPr>
        <p:spPr>
          <a:xfrm>
            <a:off x="1270819" y="2247317"/>
            <a:ext cx="3040258" cy="777240"/>
          </a:xfrm>
        </p:spPr>
        <p:txBody>
          <a:bodyPr/>
          <a:lstStyle/>
          <a:p>
            <a:r>
              <a:rPr lang="en-IN" b="1" dirty="0"/>
              <a:t>IT </a:t>
            </a:r>
          </a:p>
        </p:txBody>
      </p:sp>
      <p:sp>
        <p:nvSpPr>
          <p:cNvPr id="4" name="Content Placeholder 3">
            <a:extLst>
              <a:ext uri="{FF2B5EF4-FFF2-40B4-BE49-F238E27FC236}">
                <a16:creationId xmlns:a16="http://schemas.microsoft.com/office/drawing/2014/main" id="{C3D6B0E5-988D-7D95-9424-A735B0114BEE}"/>
              </a:ext>
            </a:extLst>
          </p:cNvPr>
          <p:cNvSpPr>
            <a:spLocks noGrp="1"/>
          </p:cNvSpPr>
          <p:nvPr>
            <p:ph sz="half" idx="2"/>
          </p:nvPr>
        </p:nvSpPr>
        <p:spPr>
          <a:xfrm>
            <a:off x="1143000" y="3146490"/>
            <a:ext cx="4754880" cy="2528943"/>
          </a:xfrm>
        </p:spPr>
        <p:txBody>
          <a:bodyPr/>
          <a:lstStyle/>
          <a:p>
            <a:r>
              <a:rPr lang="en-IN" dirty="0"/>
              <a:t>Focuses on technology support.</a:t>
            </a:r>
          </a:p>
          <a:p>
            <a:r>
              <a:rPr lang="en-IN" dirty="0"/>
              <a:t>System and data oriented.</a:t>
            </a:r>
          </a:p>
          <a:p>
            <a:r>
              <a:rPr lang="en-IN" dirty="0"/>
              <a:t>Driven by IT leadership.</a:t>
            </a:r>
          </a:p>
          <a:p>
            <a:r>
              <a:rPr lang="en-IN" dirty="0"/>
              <a:t>Driven by IT leadership.</a:t>
            </a:r>
          </a:p>
        </p:txBody>
      </p:sp>
      <p:sp>
        <p:nvSpPr>
          <p:cNvPr id="5" name="Text Placeholder 4">
            <a:extLst>
              <a:ext uri="{FF2B5EF4-FFF2-40B4-BE49-F238E27FC236}">
                <a16:creationId xmlns:a16="http://schemas.microsoft.com/office/drawing/2014/main" id="{94F9CA4B-B43E-4CF4-006D-54ABD6587F8D}"/>
              </a:ext>
            </a:extLst>
          </p:cNvPr>
          <p:cNvSpPr>
            <a:spLocks noGrp="1"/>
          </p:cNvSpPr>
          <p:nvPr>
            <p:ph type="body" sz="quarter" idx="3"/>
          </p:nvPr>
        </p:nvSpPr>
        <p:spPr>
          <a:xfrm>
            <a:off x="6269173" y="2247317"/>
            <a:ext cx="4754880" cy="777240"/>
          </a:xfrm>
        </p:spPr>
        <p:txBody>
          <a:bodyPr/>
          <a:lstStyle/>
          <a:p>
            <a:r>
              <a:rPr lang="en-US" b="1" dirty="0"/>
              <a:t>Business Strategy</a:t>
            </a:r>
            <a:endParaRPr lang="en-IN" b="1" dirty="0"/>
          </a:p>
        </p:txBody>
      </p:sp>
      <p:sp>
        <p:nvSpPr>
          <p:cNvPr id="6" name="Content Placeholder 5">
            <a:extLst>
              <a:ext uri="{FF2B5EF4-FFF2-40B4-BE49-F238E27FC236}">
                <a16:creationId xmlns:a16="http://schemas.microsoft.com/office/drawing/2014/main" id="{CA6DDE66-9EC6-CB1D-2EAD-95B89F1F9B34}"/>
              </a:ext>
            </a:extLst>
          </p:cNvPr>
          <p:cNvSpPr>
            <a:spLocks noGrp="1"/>
          </p:cNvSpPr>
          <p:nvPr>
            <p:ph sz="quarter" idx="4"/>
          </p:nvPr>
        </p:nvSpPr>
        <p:spPr>
          <a:xfrm>
            <a:off x="6269173" y="3146490"/>
            <a:ext cx="4754880" cy="2137813"/>
          </a:xfrm>
        </p:spPr>
        <p:txBody>
          <a:bodyPr/>
          <a:lstStyle/>
          <a:p>
            <a:r>
              <a:rPr lang="en-US" dirty="0"/>
              <a:t>Focuses on goals and vision.</a:t>
            </a:r>
          </a:p>
          <a:p>
            <a:r>
              <a:rPr lang="en-IN" dirty="0"/>
              <a:t>Market and customer oriented.</a:t>
            </a:r>
          </a:p>
          <a:p>
            <a:r>
              <a:rPr lang="en-IN" dirty="0"/>
              <a:t>Driven by management.</a:t>
            </a:r>
          </a:p>
          <a:p>
            <a:r>
              <a:rPr lang="en-IN" dirty="0"/>
              <a:t>Long-term growth.</a:t>
            </a:r>
          </a:p>
        </p:txBody>
      </p:sp>
    </p:spTree>
    <p:extLst>
      <p:ext uri="{BB962C8B-B14F-4D97-AF65-F5344CB8AC3E}">
        <p14:creationId xmlns:p14="http://schemas.microsoft.com/office/powerpoint/2010/main" val="1297289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10522-0413-094B-D903-068046328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64F20-2A19-189C-5AD0-E04BDA1E8339}"/>
              </a:ext>
            </a:extLst>
          </p:cNvPr>
          <p:cNvSpPr>
            <a:spLocks noGrp="1"/>
          </p:cNvSpPr>
          <p:nvPr>
            <p:ph type="title"/>
          </p:nvPr>
        </p:nvSpPr>
        <p:spPr>
          <a:xfrm>
            <a:off x="1598971" y="235974"/>
            <a:ext cx="8994057" cy="1052052"/>
          </a:xfrm>
        </p:spPr>
        <p:txBody>
          <a:bodyPr>
            <a:normAutofit fontScale="90000"/>
          </a:bodyPr>
          <a:lstStyle/>
          <a:p>
            <a:r>
              <a:rPr lang="en-IN" b="1" dirty="0"/>
              <a:t>Understanding Different Data Types</a:t>
            </a:r>
          </a:p>
        </p:txBody>
      </p:sp>
      <p:sp>
        <p:nvSpPr>
          <p:cNvPr id="3" name="Content Placeholder 2">
            <a:extLst>
              <a:ext uri="{FF2B5EF4-FFF2-40B4-BE49-F238E27FC236}">
                <a16:creationId xmlns:a16="http://schemas.microsoft.com/office/drawing/2014/main" id="{06CD8CF8-B5EF-B91E-70A4-7F132F194C14}"/>
              </a:ext>
            </a:extLst>
          </p:cNvPr>
          <p:cNvSpPr>
            <a:spLocks noGrp="1"/>
          </p:cNvSpPr>
          <p:nvPr>
            <p:ph idx="1"/>
          </p:nvPr>
        </p:nvSpPr>
        <p:spPr>
          <a:xfrm>
            <a:off x="648929" y="1054509"/>
            <a:ext cx="10687665" cy="5434782"/>
          </a:xfrm>
        </p:spPr>
        <p:txBody>
          <a:bodyPr anchor="ctr">
            <a:normAutofit fontScale="92500" lnSpcReduction="10000"/>
          </a:bodyPr>
          <a:lstStyle/>
          <a:p>
            <a:pPr marL="45720" indent="0">
              <a:buNone/>
            </a:pPr>
            <a:r>
              <a:rPr lang="en-US" b="1" dirty="0"/>
              <a:t>1. Structured Data: </a:t>
            </a:r>
            <a:r>
              <a:rPr lang="en-US" dirty="0"/>
              <a:t>Structured data is organized in a fixed format, usually in rows and columns.</a:t>
            </a:r>
          </a:p>
          <a:p>
            <a:pPr>
              <a:buFont typeface="Arial" panose="020B0604020202020204" pitchFamily="34" charset="0"/>
              <a:buChar char="•"/>
            </a:pPr>
            <a:r>
              <a:rPr lang="en-US" dirty="0"/>
              <a:t>Stored in databases and spreadsheets</a:t>
            </a:r>
          </a:p>
          <a:p>
            <a:pPr>
              <a:buFont typeface="Arial" panose="020B0604020202020204" pitchFamily="34" charset="0"/>
              <a:buChar char="•"/>
            </a:pPr>
            <a:r>
              <a:rPr lang="en-US" dirty="0"/>
              <a:t>Easy to search and analyze</a:t>
            </a:r>
          </a:p>
          <a:p>
            <a:pPr marL="45720" indent="0">
              <a:buNone/>
            </a:pPr>
            <a:r>
              <a:rPr lang="en-US" b="1" dirty="0"/>
              <a:t>Examples: </a:t>
            </a:r>
            <a:r>
              <a:rPr lang="en-US" dirty="0"/>
              <a:t>Student records, sales tables, bank transactions</a:t>
            </a:r>
          </a:p>
          <a:p>
            <a:pPr marL="45720" indent="0">
              <a:buNone/>
            </a:pPr>
            <a:r>
              <a:rPr lang="en-US" b="1" dirty="0"/>
              <a:t>2. Unstructured Data: </a:t>
            </a:r>
            <a:r>
              <a:rPr lang="en-US" dirty="0"/>
              <a:t>Unstructured data has no fixed format or structure.</a:t>
            </a:r>
          </a:p>
          <a:p>
            <a:pPr marL="216000">
              <a:lnSpc>
                <a:spcPct val="50000"/>
              </a:lnSpc>
            </a:pPr>
            <a:r>
              <a:rPr lang="en-US" dirty="0"/>
              <a:t>Difficult to store and analyze using traditional tools</a:t>
            </a:r>
          </a:p>
          <a:p>
            <a:r>
              <a:rPr lang="en-US" dirty="0"/>
              <a:t>Makes up most of the data today</a:t>
            </a:r>
          </a:p>
          <a:p>
            <a:pPr marL="45720" indent="0">
              <a:buNone/>
            </a:pPr>
            <a:r>
              <a:rPr lang="en-US" b="1" dirty="0"/>
              <a:t>Examples: </a:t>
            </a:r>
            <a:r>
              <a:rPr lang="en-US" dirty="0"/>
              <a:t>Emails, videos, images, audio files, social media posts</a:t>
            </a:r>
          </a:p>
          <a:p>
            <a:pPr marL="45720" indent="0">
              <a:buNone/>
            </a:pPr>
            <a:r>
              <a:rPr lang="en-US" b="1" dirty="0"/>
              <a:t>3. Semi-Structured Data: </a:t>
            </a:r>
            <a:r>
              <a:rPr lang="en-US" dirty="0"/>
              <a:t>Semi-structured data is partly organized, but not in a rigid table format.</a:t>
            </a:r>
          </a:p>
          <a:p>
            <a:r>
              <a:rPr lang="en-US" dirty="0"/>
              <a:t>Contains tags or markers to organize data</a:t>
            </a:r>
          </a:p>
          <a:p>
            <a:r>
              <a:rPr lang="en-US" dirty="0"/>
              <a:t>More flexible than structured data</a:t>
            </a:r>
          </a:p>
          <a:p>
            <a:pPr marL="45720" indent="0">
              <a:buNone/>
            </a:pPr>
            <a:r>
              <a:rPr lang="en-US" b="1" dirty="0"/>
              <a:t>Examples: </a:t>
            </a:r>
            <a:r>
              <a:rPr lang="en-US" dirty="0"/>
              <a:t>XML files, JSON files, HTML documents, log files</a:t>
            </a:r>
          </a:p>
        </p:txBody>
      </p:sp>
    </p:spTree>
    <p:extLst>
      <p:ext uri="{BB962C8B-B14F-4D97-AF65-F5344CB8AC3E}">
        <p14:creationId xmlns:p14="http://schemas.microsoft.com/office/powerpoint/2010/main" val="4026838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E217-82F4-D0E8-F469-E76444999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D80C9-6B8C-2EF4-33D5-7F0594676702}"/>
              </a:ext>
            </a:extLst>
          </p:cNvPr>
          <p:cNvSpPr>
            <a:spLocks noGrp="1"/>
          </p:cNvSpPr>
          <p:nvPr>
            <p:ph type="title"/>
          </p:nvPr>
        </p:nvSpPr>
        <p:spPr/>
        <p:txBody>
          <a:bodyPr/>
          <a:lstStyle/>
          <a:p>
            <a:r>
              <a:rPr lang="en-IN" b="1" dirty="0"/>
              <a:t>Common Data Sources</a:t>
            </a:r>
          </a:p>
        </p:txBody>
      </p:sp>
      <p:sp>
        <p:nvSpPr>
          <p:cNvPr id="3" name="Content Placeholder 2">
            <a:extLst>
              <a:ext uri="{FF2B5EF4-FFF2-40B4-BE49-F238E27FC236}">
                <a16:creationId xmlns:a16="http://schemas.microsoft.com/office/drawing/2014/main" id="{5A5AB0DF-5CBD-3D9D-644C-D1DCADF6CC9E}"/>
              </a:ext>
            </a:extLst>
          </p:cNvPr>
          <p:cNvSpPr>
            <a:spLocks noGrp="1"/>
          </p:cNvSpPr>
          <p:nvPr>
            <p:ph idx="1"/>
          </p:nvPr>
        </p:nvSpPr>
        <p:spPr/>
        <p:txBody>
          <a:bodyPr anchor="ctr">
            <a:normAutofit lnSpcReduction="10000"/>
          </a:bodyPr>
          <a:lstStyle/>
          <a:p>
            <a:pPr marL="45720" indent="0">
              <a:buNone/>
            </a:pPr>
            <a:r>
              <a:rPr lang="en-US" b="1" dirty="0">
                <a:solidFill>
                  <a:schemeClr val="bg2">
                    <a:lumMod val="25000"/>
                  </a:schemeClr>
                </a:solidFill>
              </a:rPr>
              <a:t>Data sources</a:t>
            </a:r>
            <a:r>
              <a:rPr lang="en-US" dirty="0">
                <a:solidFill>
                  <a:schemeClr val="bg2">
                    <a:lumMod val="25000"/>
                  </a:schemeClr>
                </a:solidFill>
              </a:rPr>
              <a:t> are the origins from which data is collected:</a:t>
            </a:r>
          </a:p>
          <a:p>
            <a:pPr marL="45720" indent="0">
              <a:buNone/>
            </a:pPr>
            <a:endParaRPr lang="en-US" dirty="0"/>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sz="2400" b="1" dirty="0">
                <a:solidFill>
                  <a:schemeClr val="accent5">
                    <a:lumMod val="75000"/>
                  </a:schemeClr>
                </a:solidFill>
                <a:latin typeface="Arial" panose="020B0604020202020204" pitchFamily="34" charset="0"/>
              </a:rPr>
              <a:t>Internal Data Sources:</a:t>
            </a:r>
            <a:r>
              <a:rPr lang="en-US" altLang="en-US" sz="2400" dirty="0">
                <a:solidFill>
                  <a:schemeClr val="accent5">
                    <a:lumMod val="75000"/>
                  </a:schemeClr>
                </a:solidFill>
                <a:latin typeface="Arial" panose="020B0604020202020204" pitchFamily="34" charset="0"/>
              </a:rPr>
              <a:t> Data generated within the organization, like sales, employee, or inventory records.</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sz="2400" b="1" dirty="0">
                <a:solidFill>
                  <a:schemeClr val="accent5">
                    <a:lumMod val="75000"/>
                  </a:schemeClr>
                </a:solidFill>
                <a:latin typeface="Arial" panose="020B0604020202020204" pitchFamily="34" charset="0"/>
              </a:rPr>
              <a:t>External Data Sources:</a:t>
            </a:r>
            <a:r>
              <a:rPr lang="en-US" altLang="en-US" sz="2400" dirty="0">
                <a:solidFill>
                  <a:schemeClr val="accent5">
                    <a:lumMod val="75000"/>
                  </a:schemeClr>
                </a:solidFill>
                <a:latin typeface="Arial" panose="020B0604020202020204" pitchFamily="34" charset="0"/>
              </a:rPr>
              <a:t> Data from outside the organization, such as market reports, social media, or government statistics.</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sz="2400" b="1" dirty="0">
                <a:solidFill>
                  <a:schemeClr val="accent5">
                    <a:lumMod val="75000"/>
                  </a:schemeClr>
                </a:solidFill>
                <a:latin typeface="Arial" panose="020B0604020202020204" pitchFamily="34" charset="0"/>
              </a:rPr>
              <a:t>Databases:</a:t>
            </a:r>
            <a:r>
              <a:rPr lang="en-US" altLang="en-US" sz="2400" dirty="0">
                <a:solidFill>
                  <a:schemeClr val="accent5">
                    <a:lumMod val="75000"/>
                  </a:schemeClr>
                </a:solidFill>
                <a:latin typeface="Arial" panose="020B0604020202020204" pitchFamily="34" charset="0"/>
              </a:rPr>
              <a:t> Structured storage systems (SQL/NoSQL) that organize data for easy retrieval and management.</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altLang="en-US" sz="2400" b="1" dirty="0">
                <a:solidFill>
                  <a:schemeClr val="accent5">
                    <a:lumMod val="75000"/>
                  </a:schemeClr>
                </a:solidFill>
                <a:latin typeface="Arial" panose="020B0604020202020204" pitchFamily="34" charset="0"/>
              </a:rPr>
              <a:t>APIs:</a:t>
            </a:r>
            <a:r>
              <a:rPr lang="en-US" altLang="en-US" sz="2400" dirty="0">
                <a:solidFill>
                  <a:schemeClr val="accent5">
                    <a:lumMod val="75000"/>
                  </a:schemeClr>
                </a:solidFill>
                <a:latin typeface="Arial" panose="020B0604020202020204" pitchFamily="34" charset="0"/>
              </a:rPr>
              <a:t> Interfaces that allow applications to access and exchange data from other systems or services.</a:t>
            </a:r>
          </a:p>
        </p:txBody>
      </p:sp>
    </p:spTree>
    <p:extLst>
      <p:ext uri="{BB962C8B-B14F-4D97-AF65-F5344CB8AC3E}">
        <p14:creationId xmlns:p14="http://schemas.microsoft.com/office/powerpoint/2010/main" val="4072290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AE1C9-151A-2EE1-E783-A888DC38A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D1896-B2C4-B31C-C28F-3013236AFFA5}"/>
              </a:ext>
            </a:extLst>
          </p:cNvPr>
          <p:cNvSpPr>
            <a:spLocks noGrp="1"/>
          </p:cNvSpPr>
          <p:nvPr>
            <p:ph type="title"/>
          </p:nvPr>
        </p:nvSpPr>
        <p:spPr/>
        <p:txBody>
          <a:bodyPr/>
          <a:lstStyle/>
          <a:p>
            <a:r>
              <a:rPr lang="en-IN" b="1" dirty="0"/>
              <a:t>Data Collection Methods</a:t>
            </a:r>
          </a:p>
        </p:txBody>
      </p:sp>
      <p:sp>
        <p:nvSpPr>
          <p:cNvPr id="3" name="Content Placeholder 2">
            <a:extLst>
              <a:ext uri="{FF2B5EF4-FFF2-40B4-BE49-F238E27FC236}">
                <a16:creationId xmlns:a16="http://schemas.microsoft.com/office/drawing/2014/main" id="{63A4DC2A-CB14-15B8-DE1C-6BCBC40512BE}"/>
              </a:ext>
            </a:extLst>
          </p:cNvPr>
          <p:cNvSpPr>
            <a:spLocks noGrp="1"/>
          </p:cNvSpPr>
          <p:nvPr>
            <p:ph idx="1"/>
          </p:nvPr>
        </p:nvSpPr>
        <p:spPr/>
        <p:txBody>
          <a:bodyPr anchor="ctr">
            <a:normAutofit/>
          </a:bodyPr>
          <a:lstStyle/>
          <a:p>
            <a:r>
              <a:rPr lang="en-US" b="1" dirty="0"/>
              <a:t>Surveys &amp; Questionnaires</a:t>
            </a:r>
            <a:r>
              <a:rPr lang="en-US" dirty="0"/>
              <a:t> – Collect information directly from people using structured questions.</a:t>
            </a:r>
          </a:p>
          <a:p>
            <a:r>
              <a:rPr lang="en-US" b="1" dirty="0"/>
              <a:t>Interviews</a:t>
            </a:r>
            <a:r>
              <a:rPr lang="en-US" dirty="0"/>
              <a:t> – Direct, often face-to-face, interaction to gather detailed insights.</a:t>
            </a:r>
          </a:p>
          <a:p>
            <a:r>
              <a:rPr lang="en-US" b="1" dirty="0"/>
              <a:t>Observation</a:t>
            </a:r>
            <a:r>
              <a:rPr lang="en-US" dirty="0"/>
              <a:t> – Recording behaviors or events as they happen in real time.</a:t>
            </a:r>
          </a:p>
          <a:p>
            <a:r>
              <a:rPr lang="en-US" b="1" dirty="0"/>
              <a:t>Sensors &amp; IoT Devices</a:t>
            </a:r>
            <a:r>
              <a:rPr lang="en-US" dirty="0"/>
              <a:t> – Automatic data collection from devices, machines, or environment.</a:t>
            </a:r>
          </a:p>
          <a:p>
            <a:r>
              <a:rPr lang="en-US" b="1" dirty="0"/>
              <a:t>Web &amp; Social Media Mining</a:t>
            </a:r>
            <a:r>
              <a:rPr lang="en-US" dirty="0"/>
              <a:t> – Gathering data from websites, social media platforms, and online sources.</a:t>
            </a:r>
          </a:p>
        </p:txBody>
      </p:sp>
    </p:spTree>
    <p:extLst>
      <p:ext uri="{BB962C8B-B14F-4D97-AF65-F5344CB8AC3E}">
        <p14:creationId xmlns:p14="http://schemas.microsoft.com/office/powerpoint/2010/main" val="3366564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D2F3-38BE-9BFF-133B-E560BE806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EFD2F-977F-11C3-C300-9BAE76975CDA}"/>
              </a:ext>
            </a:extLst>
          </p:cNvPr>
          <p:cNvSpPr>
            <a:spLocks noGrp="1"/>
          </p:cNvSpPr>
          <p:nvPr>
            <p:ph type="title"/>
          </p:nvPr>
        </p:nvSpPr>
        <p:spPr/>
        <p:txBody>
          <a:bodyPr/>
          <a:lstStyle/>
          <a:p>
            <a:r>
              <a:rPr lang="en-IN" b="1" dirty="0"/>
              <a:t>Data Lifecycle Management</a:t>
            </a:r>
          </a:p>
        </p:txBody>
      </p:sp>
      <p:sp>
        <p:nvSpPr>
          <p:cNvPr id="3" name="Content Placeholder 2">
            <a:extLst>
              <a:ext uri="{FF2B5EF4-FFF2-40B4-BE49-F238E27FC236}">
                <a16:creationId xmlns:a16="http://schemas.microsoft.com/office/drawing/2014/main" id="{4831B975-9178-683D-1249-3EF6554B5959}"/>
              </a:ext>
            </a:extLst>
          </p:cNvPr>
          <p:cNvSpPr>
            <a:spLocks noGrp="1"/>
          </p:cNvSpPr>
          <p:nvPr>
            <p:ph idx="1"/>
          </p:nvPr>
        </p:nvSpPr>
        <p:spPr>
          <a:xfrm>
            <a:off x="676656" y="2011680"/>
            <a:ext cx="10753725" cy="4074488"/>
          </a:xfrm>
        </p:spPr>
        <p:txBody>
          <a:bodyPr anchor="ctr">
            <a:normAutofit fontScale="92500" lnSpcReduction="20000"/>
          </a:bodyPr>
          <a:lstStyle/>
          <a:p>
            <a:pPr marL="45720" indent="0">
              <a:lnSpc>
                <a:spcPct val="120000"/>
              </a:lnSpc>
              <a:buNone/>
            </a:pPr>
            <a:r>
              <a:rPr lang="en-US" b="1" dirty="0"/>
              <a:t>Data Lifecycle Management (DLM): </a:t>
            </a:r>
            <a:r>
              <a:rPr lang="en-US" dirty="0"/>
              <a:t>Data Lifecycle Management is the process of managing data throughout its entire life, from creation to deletion, ensuring it is properly stored, used, and protected.</a:t>
            </a:r>
          </a:p>
          <a:p>
            <a:pPr marL="45720" indent="0">
              <a:buNone/>
            </a:pPr>
            <a:r>
              <a:rPr lang="en-US" b="1" dirty="0"/>
              <a:t>Stages of Data Lifecycle</a:t>
            </a:r>
          </a:p>
          <a:p>
            <a:r>
              <a:rPr lang="en-US" b="1" dirty="0"/>
              <a:t>Creation/Capture</a:t>
            </a:r>
            <a:r>
              <a:rPr lang="en-US" dirty="0"/>
              <a:t> – Data is generated or collected from various sources.</a:t>
            </a:r>
          </a:p>
          <a:p>
            <a:r>
              <a:rPr lang="en-US" b="1" dirty="0"/>
              <a:t>Storage</a:t>
            </a:r>
            <a:r>
              <a:rPr lang="en-US" dirty="0"/>
              <a:t> – Data is stored securely in databases, cloud, or other storage systems.</a:t>
            </a:r>
          </a:p>
          <a:p>
            <a:r>
              <a:rPr lang="en-US" b="1" dirty="0"/>
              <a:t>Usage</a:t>
            </a:r>
            <a:r>
              <a:rPr lang="en-US" dirty="0"/>
              <a:t> – Data is accessed, processed, and analyzed to support business decisions.</a:t>
            </a:r>
          </a:p>
          <a:p>
            <a:r>
              <a:rPr lang="en-US" b="1" dirty="0"/>
              <a:t>Sharing/Distribution</a:t>
            </a:r>
            <a:r>
              <a:rPr lang="en-US" dirty="0"/>
              <a:t> – Data is shared with authorized users or systems.</a:t>
            </a:r>
          </a:p>
          <a:p>
            <a:r>
              <a:rPr lang="en-US" b="1" dirty="0"/>
              <a:t>Archiving</a:t>
            </a:r>
            <a:r>
              <a:rPr lang="en-US" dirty="0"/>
              <a:t> – Inactive data is moved to long-term storage for future reference.</a:t>
            </a:r>
          </a:p>
          <a:p>
            <a:r>
              <a:rPr lang="en-US" b="1" dirty="0"/>
              <a:t>Deletion/Destruction</a:t>
            </a:r>
            <a:r>
              <a:rPr lang="en-US" dirty="0"/>
              <a:t> – Data that is no longer needed is securely removed.</a:t>
            </a:r>
          </a:p>
        </p:txBody>
      </p:sp>
    </p:spTree>
    <p:extLst>
      <p:ext uri="{BB962C8B-B14F-4D97-AF65-F5344CB8AC3E}">
        <p14:creationId xmlns:p14="http://schemas.microsoft.com/office/powerpoint/2010/main" val="2753579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C74C3-2DC3-949D-44C5-DD5C25700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600FB-35A4-7279-C108-EEC0052C7069}"/>
              </a:ext>
            </a:extLst>
          </p:cNvPr>
          <p:cNvSpPr>
            <a:spLocks noGrp="1"/>
          </p:cNvSpPr>
          <p:nvPr>
            <p:ph type="title"/>
          </p:nvPr>
        </p:nvSpPr>
        <p:spPr>
          <a:xfrm>
            <a:off x="657224" y="245806"/>
            <a:ext cx="10772775" cy="953729"/>
          </a:xfrm>
        </p:spPr>
        <p:txBody>
          <a:bodyPr/>
          <a:lstStyle/>
          <a:p>
            <a:r>
              <a:rPr lang="en-IN" b="1" dirty="0"/>
              <a:t>Data Quality and Integrity</a:t>
            </a:r>
          </a:p>
        </p:txBody>
      </p:sp>
      <p:sp>
        <p:nvSpPr>
          <p:cNvPr id="3" name="Content Placeholder 2">
            <a:extLst>
              <a:ext uri="{FF2B5EF4-FFF2-40B4-BE49-F238E27FC236}">
                <a16:creationId xmlns:a16="http://schemas.microsoft.com/office/drawing/2014/main" id="{D54120C4-101C-BF41-AECB-3B4FFE784B7B}"/>
              </a:ext>
            </a:extLst>
          </p:cNvPr>
          <p:cNvSpPr>
            <a:spLocks noGrp="1"/>
          </p:cNvSpPr>
          <p:nvPr>
            <p:ph idx="1"/>
          </p:nvPr>
        </p:nvSpPr>
        <p:spPr>
          <a:xfrm>
            <a:off x="1143000" y="1288026"/>
            <a:ext cx="9259529" cy="5324167"/>
          </a:xfrm>
        </p:spPr>
        <p:txBody>
          <a:bodyPr anchor="ctr">
            <a:normAutofit/>
          </a:bodyPr>
          <a:lstStyle/>
          <a:p>
            <a:pPr marL="45720" indent="0">
              <a:buNone/>
            </a:pPr>
            <a:r>
              <a:rPr lang="en-US" sz="1800" b="1" dirty="0"/>
              <a:t>1. Data Quality</a:t>
            </a:r>
          </a:p>
          <a:p>
            <a:r>
              <a:rPr lang="en-US" sz="1800" dirty="0"/>
              <a:t>Refers to how </a:t>
            </a:r>
            <a:r>
              <a:rPr lang="en-US" sz="1800" b="1" dirty="0"/>
              <a:t>accurate, complete, consistent, and reliable</a:t>
            </a:r>
            <a:r>
              <a:rPr lang="en-US" sz="1800" dirty="0"/>
              <a:t> data is.</a:t>
            </a:r>
          </a:p>
          <a:p>
            <a:r>
              <a:rPr lang="en-US" sz="1800" dirty="0"/>
              <a:t>High-quality data ensures correct decisions and smooth business operations.</a:t>
            </a:r>
          </a:p>
          <a:p>
            <a:pPr marL="45720" indent="0">
              <a:lnSpc>
                <a:spcPct val="160000"/>
              </a:lnSpc>
              <a:buNone/>
            </a:pPr>
            <a:r>
              <a:rPr lang="en-US" sz="1800" b="1" dirty="0"/>
              <a:t>Key aspects:</a:t>
            </a:r>
            <a:r>
              <a:rPr lang="en-US" sz="1800" dirty="0"/>
              <a:t> Accuracy, completeness, consistency, timeliness, and relevance.</a:t>
            </a:r>
            <a:br>
              <a:rPr lang="en-US" sz="1800" dirty="0"/>
            </a:br>
            <a:r>
              <a:rPr lang="en-US" sz="1800" b="1" dirty="0"/>
              <a:t>Example:</a:t>
            </a:r>
            <a:r>
              <a:rPr lang="en-US" sz="1800" dirty="0"/>
              <a:t> A customer database with correct phone numbers and addresses.</a:t>
            </a:r>
            <a:br>
              <a:rPr lang="en-US" sz="1800" dirty="0"/>
            </a:br>
            <a:endParaRPr lang="en-US" sz="1800" dirty="0"/>
          </a:p>
          <a:p>
            <a:pPr marL="45720" indent="0">
              <a:buNone/>
            </a:pPr>
            <a:r>
              <a:rPr lang="en-US" sz="1800" b="1" dirty="0"/>
              <a:t>2. Data Integrity</a:t>
            </a:r>
          </a:p>
          <a:p>
            <a:r>
              <a:rPr lang="en-US" sz="1800" dirty="0"/>
              <a:t>Refers to maintaining </a:t>
            </a:r>
            <a:r>
              <a:rPr lang="en-US" sz="1800" b="1" dirty="0"/>
              <a:t>data accuracy and consistency</a:t>
            </a:r>
            <a:r>
              <a:rPr lang="en-US" sz="1800" dirty="0"/>
              <a:t> over its </a:t>
            </a:r>
            <a:r>
              <a:rPr lang="en-US" sz="1800" b="1" dirty="0"/>
              <a:t>entire lifecycle</a:t>
            </a:r>
            <a:r>
              <a:rPr lang="en-US" sz="1800" dirty="0"/>
              <a:t>.</a:t>
            </a:r>
          </a:p>
          <a:p>
            <a:r>
              <a:rPr lang="en-US" sz="1800" dirty="0"/>
              <a:t>Ensures that data is </a:t>
            </a:r>
            <a:r>
              <a:rPr lang="en-US" sz="1800" b="1" dirty="0"/>
              <a:t>not altered or corrupted</a:t>
            </a:r>
            <a:r>
              <a:rPr lang="en-US" sz="1800" dirty="0"/>
              <a:t>, intentionally or accidentally.</a:t>
            </a:r>
          </a:p>
          <a:p>
            <a:pPr marL="45720" indent="0">
              <a:lnSpc>
                <a:spcPct val="170000"/>
              </a:lnSpc>
              <a:buNone/>
            </a:pPr>
            <a:r>
              <a:rPr lang="en-US" sz="1800" b="1" dirty="0"/>
              <a:t>Key aspects:</a:t>
            </a:r>
            <a:r>
              <a:rPr lang="en-US" sz="1800" dirty="0"/>
              <a:t> Validity, reliability, security, and proper access controls.</a:t>
            </a:r>
            <a:br>
              <a:rPr lang="en-US" sz="1800" dirty="0"/>
            </a:br>
            <a:r>
              <a:rPr lang="en-US" sz="1800" b="1" dirty="0"/>
              <a:t>Example:</a:t>
            </a:r>
            <a:r>
              <a:rPr lang="en-US" sz="1800" dirty="0"/>
              <a:t> Financial records that remain unchanged and traceable after transactions.</a:t>
            </a:r>
          </a:p>
        </p:txBody>
      </p:sp>
    </p:spTree>
    <p:extLst>
      <p:ext uri="{BB962C8B-B14F-4D97-AF65-F5344CB8AC3E}">
        <p14:creationId xmlns:p14="http://schemas.microsoft.com/office/powerpoint/2010/main" val="2184650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ABBF6-F0F9-FE50-676F-2415F86E4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326186-9AF0-E9FF-86B6-3E7E63C916B6}"/>
              </a:ext>
            </a:extLst>
          </p:cNvPr>
          <p:cNvSpPr>
            <a:spLocks noGrp="1"/>
          </p:cNvSpPr>
          <p:nvPr>
            <p:ph type="title"/>
          </p:nvPr>
        </p:nvSpPr>
        <p:spPr/>
        <p:txBody>
          <a:bodyPr/>
          <a:lstStyle/>
          <a:p>
            <a:r>
              <a:rPr lang="en-IN" b="1" dirty="0"/>
              <a:t>Business Analyst – Definition</a:t>
            </a:r>
          </a:p>
        </p:txBody>
      </p:sp>
      <p:sp>
        <p:nvSpPr>
          <p:cNvPr id="3" name="Content Placeholder 2">
            <a:extLst>
              <a:ext uri="{FF2B5EF4-FFF2-40B4-BE49-F238E27FC236}">
                <a16:creationId xmlns:a16="http://schemas.microsoft.com/office/drawing/2014/main" id="{B15D5AC5-4AAB-4C49-87FC-EB914AB8B7F7}"/>
              </a:ext>
            </a:extLst>
          </p:cNvPr>
          <p:cNvSpPr>
            <a:spLocks noGrp="1"/>
          </p:cNvSpPr>
          <p:nvPr>
            <p:ph idx="1"/>
          </p:nvPr>
        </p:nvSpPr>
        <p:spPr/>
        <p:txBody>
          <a:bodyPr anchor="ctr">
            <a:normAutofit lnSpcReduction="10000"/>
          </a:bodyPr>
          <a:lstStyle/>
          <a:p>
            <a:pPr marL="0" lvl="0" indent="0" eaLnBrk="0" fontAlgn="base" hangingPunct="0">
              <a:lnSpc>
                <a:spcPct val="100000"/>
              </a:lnSpc>
              <a:spcBef>
                <a:spcPct val="0"/>
              </a:spcBef>
              <a:spcAft>
                <a:spcPct val="0"/>
              </a:spcAft>
              <a:buClrTx/>
              <a:buSzTx/>
              <a:buNone/>
            </a:pPr>
            <a:r>
              <a:rPr lang="en-US" altLang="en-US" sz="2400" dirty="0">
                <a:solidFill>
                  <a:schemeClr val="accent5">
                    <a:lumMod val="75000"/>
                  </a:schemeClr>
                </a:solidFill>
                <a:latin typeface="Arial" panose="020B0604020202020204" pitchFamily="34" charset="0"/>
              </a:rPr>
              <a:t>A </a:t>
            </a:r>
            <a:r>
              <a:rPr lang="en-US" altLang="en-US" sz="2400" b="1" dirty="0">
                <a:solidFill>
                  <a:schemeClr val="accent5">
                    <a:lumMod val="75000"/>
                  </a:schemeClr>
                </a:solidFill>
                <a:latin typeface="Arial" panose="020B0604020202020204" pitchFamily="34" charset="0"/>
              </a:rPr>
              <a:t>Business Analyst (BA)</a:t>
            </a:r>
            <a:r>
              <a:rPr lang="en-US" altLang="en-US" sz="2400" dirty="0">
                <a:solidFill>
                  <a:schemeClr val="accent5">
                    <a:lumMod val="75000"/>
                  </a:schemeClr>
                </a:solidFill>
                <a:latin typeface="Arial" panose="020B0604020202020204" pitchFamily="34" charset="0"/>
              </a:rPr>
              <a:t> acts as a bridge between business stakeholders and IT teams to ensure that organizational needs are understood and addressed effectively. They identify business problems, analyze processes, and propose solutions that improve efficiency and support strategic goals.</a:t>
            </a:r>
          </a:p>
          <a:p>
            <a:pPr marL="0" lvl="0" indent="0" eaLnBrk="0" fontAlgn="base" hangingPunct="0">
              <a:lnSpc>
                <a:spcPct val="100000"/>
              </a:lnSpc>
              <a:spcBef>
                <a:spcPct val="0"/>
              </a:spcBef>
              <a:spcAft>
                <a:spcPct val="0"/>
              </a:spcAft>
              <a:buClrTx/>
              <a:buSzTx/>
              <a:buNone/>
            </a:pPr>
            <a:endParaRPr lang="en-US" altLang="en-US" sz="2400" dirty="0">
              <a:solidFill>
                <a:schemeClr val="accent5">
                  <a:lumMod val="75000"/>
                </a:schemeClr>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2400" b="1" dirty="0">
                <a:solidFill>
                  <a:schemeClr val="accent5">
                    <a:lumMod val="75000"/>
                  </a:schemeClr>
                </a:solidFill>
                <a:latin typeface="Arial" panose="020B0604020202020204" pitchFamily="34" charset="0"/>
              </a:rPr>
              <a:t>Key points:</a:t>
            </a:r>
            <a:endParaRPr lang="en-US" altLang="en-US" sz="2400" dirty="0">
              <a:solidFill>
                <a:schemeClr val="accent5">
                  <a:lumMod val="75000"/>
                </a:schemeClr>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sz="2400" dirty="0">
                <a:solidFill>
                  <a:schemeClr val="accent5">
                    <a:lumMod val="75000"/>
                  </a:schemeClr>
                </a:solidFill>
                <a:latin typeface="Arial" panose="020B0604020202020204" pitchFamily="34" charset="0"/>
              </a:rPr>
              <a:t>Gathers and documents business requirements.</a:t>
            </a:r>
          </a:p>
          <a:p>
            <a:pPr marL="0" lvl="0" indent="0" eaLnBrk="0" fontAlgn="base" hangingPunct="0">
              <a:lnSpc>
                <a:spcPct val="100000"/>
              </a:lnSpc>
              <a:spcBef>
                <a:spcPct val="0"/>
              </a:spcBef>
              <a:spcAft>
                <a:spcPct val="0"/>
              </a:spcAft>
              <a:buClrTx/>
              <a:buSzTx/>
              <a:buFontTx/>
              <a:buChar char="•"/>
            </a:pPr>
            <a:r>
              <a:rPr lang="en-US" altLang="en-US" sz="2400" dirty="0">
                <a:solidFill>
                  <a:schemeClr val="accent5">
                    <a:lumMod val="75000"/>
                  </a:schemeClr>
                </a:solidFill>
                <a:latin typeface="Arial" panose="020B0604020202020204" pitchFamily="34" charset="0"/>
              </a:rPr>
              <a:t>Analyzes data and processes to recommend improvements.</a:t>
            </a:r>
          </a:p>
          <a:p>
            <a:pPr marL="0" lvl="0" indent="0" eaLnBrk="0" fontAlgn="base" hangingPunct="0">
              <a:lnSpc>
                <a:spcPct val="100000"/>
              </a:lnSpc>
              <a:spcBef>
                <a:spcPct val="0"/>
              </a:spcBef>
              <a:spcAft>
                <a:spcPct val="0"/>
              </a:spcAft>
              <a:buClrTx/>
              <a:buSzTx/>
              <a:buFontTx/>
              <a:buChar char="•"/>
            </a:pPr>
            <a:r>
              <a:rPr lang="en-US" altLang="en-US" sz="2400" dirty="0">
                <a:solidFill>
                  <a:schemeClr val="accent5">
                    <a:lumMod val="75000"/>
                  </a:schemeClr>
                </a:solidFill>
                <a:latin typeface="Arial" panose="020B0604020202020204" pitchFamily="34" charset="0"/>
              </a:rPr>
              <a:t>Facilitates communication between technical teams and business stakeholders.</a:t>
            </a:r>
          </a:p>
          <a:p>
            <a:pPr marL="0" lvl="0" indent="0" eaLnBrk="0" fontAlgn="base" hangingPunct="0">
              <a:lnSpc>
                <a:spcPct val="100000"/>
              </a:lnSpc>
              <a:spcBef>
                <a:spcPct val="0"/>
              </a:spcBef>
              <a:spcAft>
                <a:spcPct val="0"/>
              </a:spcAft>
              <a:buClrTx/>
              <a:buSzTx/>
              <a:buFontTx/>
              <a:buChar char="•"/>
            </a:pPr>
            <a:r>
              <a:rPr lang="en-US" altLang="en-US" sz="2400" dirty="0">
                <a:solidFill>
                  <a:schemeClr val="accent5">
                    <a:lumMod val="75000"/>
                  </a:schemeClr>
                </a:solidFill>
                <a:latin typeface="Arial" panose="020B0604020202020204" pitchFamily="34" charset="0"/>
              </a:rPr>
              <a:t>Supports the implementation of solutions and evaluates outcomes.</a:t>
            </a:r>
          </a:p>
        </p:txBody>
      </p:sp>
    </p:spTree>
    <p:extLst>
      <p:ext uri="{BB962C8B-B14F-4D97-AF65-F5344CB8AC3E}">
        <p14:creationId xmlns:p14="http://schemas.microsoft.com/office/powerpoint/2010/main" val="1310956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A596-2379-AC85-42CB-CF821D5B0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87CF9-D60E-1F86-EC3D-1A789AF4F229}"/>
              </a:ext>
            </a:extLst>
          </p:cNvPr>
          <p:cNvSpPr>
            <a:spLocks noGrp="1"/>
          </p:cNvSpPr>
          <p:nvPr>
            <p:ph type="title"/>
          </p:nvPr>
        </p:nvSpPr>
        <p:spPr/>
        <p:txBody>
          <a:bodyPr/>
          <a:lstStyle/>
          <a:p>
            <a:r>
              <a:rPr lang="en-US" b="1" dirty="0"/>
              <a:t>Responsibilities of a Business Analyst</a:t>
            </a:r>
            <a:endParaRPr lang="en-IN" b="1" dirty="0"/>
          </a:p>
        </p:txBody>
      </p:sp>
      <p:sp>
        <p:nvSpPr>
          <p:cNvPr id="3" name="Content Placeholder 2">
            <a:extLst>
              <a:ext uri="{FF2B5EF4-FFF2-40B4-BE49-F238E27FC236}">
                <a16:creationId xmlns:a16="http://schemas.microsoft.com/office/drawing/2014/main" id="{0E6B516A-40A9-3E46-6535-2B3652BFF099}"/>
              </a:ext>
            </a:extLst>
          </p:cNvPr>
          <p:cNvSpPr>
            <a:spLocks noGrp="1"/>
          </p:cNvSpPr>
          <p:nvPr>
            <p:ph idx="1"/>
          </p:nvPr>
        </p:nvSpPr>
        <p:spPr/>
        <p:txBody>
          <a:bodyPr anchor="ctr">
            <a:normAutofit fontScale="85000" lnSpcReduction="20000"/>
          </a:bodyPr>
          <a:lstStyle/>
          <a:p>
            <a:pPr marL="457200" lvl="0" indent="-457200" eaLnBrk="0" fontAlgn="base" hangingPunct="0">
              <a:lnSpc>
                <a:spcPct val="15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Requirement Gathering:</a:t>
            </a:r>
            <a:r>
              <a:rPr lang="en-US" altLang="en-US" sz="2400" dirty="0">
                <a:solidFill>
                  <a:schemeClr val="accent5">
                    <a:lumMod val="75000"/>
                  </a:schemeClr>
                </a:solidFill>
                <a:latin typeface="Arial" panose="020B0604020202020204" pitchFamily="34" charset="0"/>
              </a:rPr>
              <a:t> Collect and document business needs from stakeholders.</a:t>
            </a:r>
          </a:p>
          <a:p>
            <a:pPr marL="457200" lvl="0" indent="-457200" eaLnBrk="0" fontAlgn="base" hangingPunct="0">
              <a:lnSpc>
                <a:spcPct val="15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Process Analysis:</a:t>
            </a:r>
            <a:r>
              <a:rPr lang="en-US" altLang="en-US" sz="2400" dirty="0">
                <a:solidFill>
                  <a:schemeClr val="accent5">
                    <a:lumMod val="75000"/>
                  </a:schemeClr>
                </a:solidFill>
                <a:latin typeface="Arial" panose="020B0604020202020204" pitchFamily="34" charset="0"/>
              </a:rPr>
              <a:t> Evaluate current workflows and identify areas for improvement.</a:t>
            </a:r>
          </a:p>
          <a:p>
            <a:pPr marL="457200" lvl="0" indent="-457200" eaLnBrk="0" fontAlgn="base" hangingPunct="0">
              <a:lnSpc>
                <a:spcPct val="15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Solution Recommendation:</a:t>
            </a:r>
            <a:r>
              <a:rPr lang="en-US" altLang="en-US" sz="2400" dirty="0">
                <a:solidFill>
                  <a:schemeClr val="accent5">
                    <a:lumMod val="75000"/>
                  </a:schemeClr>
                </a:solidFill>
                <a:latin typeface="Arial" panose="020B0604020202020204" pitchFamily="34" charset="0"/>
              </a:rPr>
              <a:t> Propose IT or process solutions to address business challenges.</a:t>
            </a:r>
          </a:p>
          <a:p>
            <a:pPr marL="457200" lvl="0" indent="-457200" eaLnBrk="0" fontAlgn="base" hangingPunct="0">
              <a:lnSpc>
                <a:spcPct val="15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Stakeholder Communication:</a:t>
            </a:r>
            <a:r>
              <a:rPr lang="en-US" altLang="en-US" sz="2400" dirty="0">
                <a:solidFill>
                  <a:schemeClr val="accent5">
                    <a:lumMod val="75000"/>
                  </a:schemeClr>
                </a:solidFill>
                <a:latin typeface="Arial" panose="020B0604020202020204" pitchFamily="34" charset="0"/>
              </a:rPr>
              <a:t> Facilitate discussions between business and technical teams.</a:t>
            </a:r>
          </a:p>
          <a:p>
            <a:pPr marL="457200" lvl="0" indent="-457200" eaLnBrk="0" fontAlgn="base" hangingPunct="0">
              <a:lnSpc>
                <a:spcPct val="15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Support Implementation:</a:t>
            </a:r>
            <a:r>
              <a:rPr lang="en-US" altLang="en-US" sz="2400" dirty="0">
                <a:solidFill>
                  <a:schemeClr val="accent5">
                    <a:lumMod val="75000"/>
                  </a:schemeClr>
                </a:solidFill>
                <a:latin typeface="Arial" panose="020B0604020202020204" pitchFamily="34" charset="0"/>
              </a:rPr>
              <a:t> Assist in deploying solutions and ensure they meet requirements.</a:t>
            </a:r>
          </a:p>
          <a:p>
            <a:pPr marL="457200" lvl="0" indent="-457200" eaLnBrk="0" fontAlgn="base" hangingPunct="0">
              <a:lnSpc>
                <a:spcPct val="15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Monitoring Outcomes:</a:t>
            </a:r>
            <a:r>
              <a:rPr lang="en-US" altLang="en-US" sz="2400" dirty="0">
                <a:solidFill>
                  <a:schemeClr val="accent5">
                    <a:lumMod val="75000"/>
                  </a:schemeClr>
                </a:solidFill>
                <a:latin typeface="Arial" panose="020B0604020202020204" pitchFamily="34" charset="0"/>
              </a:rPr>
              <a:t> Track results to ensure business objectives are achieved.</a:t>
            </a:r>
          </a:p>
        </p:txBody>
      </p:sp>
    </p:spTree>
    <p:extLst>
      <p:ext uri="{BB962C8B-B14F-4D97-AF65-F5344CB8AC3E}">
        <p14:creationId xmlns:p14="http://schemas.microsoft.com/office/powerpoint/2010/main" val="2052665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66842-8D14-9A72-7CD5-65FF364F3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6CA7F-4241-822D-6D36-902AA8D20B0B}"/>
              </a:ext>
            </a:extLst>
          </p:cNvPr>
          <p:cNvSpPr>
            <a:spLocks noGrp="1"/>
          </p:cNvSpPr>
          <p:nvPr>
            <p:ph type="title"/>
          </p:nvPr>
        </p:nvSpPr>
        <p:spPr/>
        <p:txBody>
          <a:bodyPr/>
          <a:lstStyle/>
          <a:p>
            <a:r>
              <a:rPr lang="en-US" b="1" dirty="0"/>
              <a:t>Key Skills for Business Analysts</a:t>
            </a:r>
            <a:endParaRPr lang="en-IN" b="1" dirty="0"/>
          </a:p>
        </p:txBody>
      </p:sp>
      <p:sp>
        <p:nvSpPr>
          <p:cNvPr id="3" name="Content Placeholder 2">
            <a:extLst>
              <a:ext uri="{FF2B5EF4-FFF2-40B4-BE49-F238E27FC236}">
                <a16:creationId xmlns:a16="http://schemas.microsoft.com/office/drawing/2014/main" id="{1F12B37B-6ECC-B00C-D923-866D7C3E7BC3}"/>
              </a:ext>
            </a:extLst>
          </p:cNvPr>
          <p:cNvSpPr>
            <a:spLocks noGrp="1"/>
          </p:cNvSpPr>
          <p:nvPr>
            <p:ph idx="1"/>
          </p:nvPr>
        </p:nvSpPr>
        <p:spPr/>
        <p:txBody>
          <a:bodyPr anchor="ctr">
            <a:normAutofit/>
          </a:bodyPr>
          <a:lstStyle/>
          <a:p>
            <a:pPr marL="457200" lvl="0" indent="-457200" eaLnBrk="0" fontAlgn="base" hangingPunct="0">
              <a:lnSpc>
                <a:spcPct val="10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Communication:</a:t>
            </a:r>
            <a:r>
              <a:rPr lang="en-US" altLang="en-US" sz="2400" dirty="0">
                <a:solidFill>
                  <a:schemeClr val="accent5">
                    <a:lumMod val="75000"/>
                  </a:schemeClr>
                </a:solidFill>
                <a:latin typeface="Arial" panose="020B0604020202020204" pitchFamily="34" charset="0"/>
              </a:rPr>
              <a:t> Clearly convey ideas, requirements, and solutions to both business stakeholders and technical teams.</a:t>
            </a:r>
          </a:p>
          <a:p>
            <a:pPr marL="457200" lvl="0" indent="-457200" eaLnBrk="0" fontAlgn="base" hangingPunct="0">
              <a:lnSpc>
                <a:spcPct val="100000"/>
              </a:lnSpc>
              <a:spcBef>
                <a:spcPct val="0"/>
              </a:spcBef>
              <a:spcAft>
                <a:spcPct val="0"/>
              </a:spcAft>
              <a:buClrTx/>
              <a:buSzTx/>
              <a:buFont typeface="+mj-lt"/>
              <a:buAutoNum type="arabicPeriod"/>
            </a:pPr>
            <a:endParaRPr lang="en-US" altLang="en-US" sz="2400" dirty="0">
              <a:solidFill>
                <a:schemeClr val="accent5">
                  <a:lumMod val="75000"/>
                </a:schemeClr>
              </a:solidFill>
              <a:latin typeface="Arial" panose="020B0604020202020204" pitchFamily="34" charset="0"/>
            </a:endParaRPr>
          </a:p>
          <a:p>
            <a:pPr marL="457200" lvl="0" indent="-457200" eaLnBrk="0" fontAlgn="base" hangingPunct="0">
              <a:lnSpc>
                <a:spcPct val="10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Analytical Thinking:</a:t>
            </a:r>
            <a:r>
              <a:rPr lang="en-US" altLang="en-US" sz="2400" dirty="0">
                <a:solidFill>
                  <a:schemeClr val="accent5">
                    <a:lumMod val="75000"/>
                  </a:schemeClr>
                </a:solidFill>
                <a:latin typeface="Arial" panose="020B0604020202020204" pitchFamily="34" charset="0"/>
              </a:rPr>
              <a:t> Examine data, processes, and problems to identify trends, patterns, and opportunities for improvement.</a:t>
            </a:r>
          </a:p>
          <a:p>
            <a:pPr marL="457200" lvl="0" indent="-457200" eaLnBrk="0" fontAlgn="base" hangingPunct="0">
              <a:lnSpc>
                <a:spcPct val="100000"/>
              </a:lnSpc>
              <a:spcBef>
                <a:spcPct val="0"/>
              </a:spcBef>
              <a:spcAft>
                <a:spcPct val="0"/>
              </a:spcAft>
              <a:buClrTx/>
              <a:buSzTx/>
              <a:buFont typeface="+mj-lt"/>
              <a:buAutoNum type="arabicPeriod"/>
            </a:pPr>
            <a:endParaRPr lang="en-US" altLang="en-US" sz="2400" dirty="0">
              <a:solidFill>
                <a:schemeClr val="accent5">
                  <a:lumMod val="75000"/>
                </a:schemeClr>
              </a:solidFill>
              <a:latin typeface="Arial" panose="020B0604020202020204" pitchFamily="34" charset="0"/>
            </a:endParaRPr>
          </a:p>
          <a:p>
            <a:pPr marL="457200" lvl="0" indent="-457200" eaLnBrk="0" fontAlgn="base" hangingPunct="0">
              <a:lnSpc>
                <a:spcPct val="100000"/>
              </a:lnSpc>
              <a:spcBef>
                <a:spcPct val="0"/>
              </a:spcBef>
              <a:spcAft>
                <a:spcPct val="0"/>
              </a:spcAft>
              <a:buClrTx/>
              <a:buSzTx/>
              <a:buFont typeface="+mj-lt"/>
              <a:buAutoNum type="arabicPeriod"/>
            </a:pPr>
            <a:r>
              <a:rPr lang="en-US" altLang="en-US" sz="2400" b="1" dirty="0">
                <a:solidFill>
                  <a:schemeClr val="accent5">
                    <a:lumMod val="75000"/>
                  </a:schemeClr>
                </a:solidFill>
                <a:latin typeface="Arial" panose="020B0604020202020204" pitchFamily="34" charset="0"/>
              </a:rPr>
              <a:t>Problem-Solving:</a:t>
            </a:r>
            <a:r>
              <a:rPr lang="en-US" altLang="en-US" sz="2400" dirty="0">
                <a:solidFill>
                  <a:schemeClr val="accent5">
                    <a:lumMod val="75000"/>
                  </a:schemeClr>
                </a:solidFill>
                <a:latin typeface="Arial" panose="020B0604020202020204" pitchFamily="34" charset="0"/>
              </a:rPr>
              <a:t> Develop practical and effective solutions to business challenges, ensuring alignment with organizational goals.</a:t>
            </a:r>
          </a:p>
        </p:txBody>
      </p:sp>
    </p:spTree>
    <p:extLst>
      <p:ext uri="{BB962C8B-B14F-4D97-AF65-F5344CB8AC3E}">
        <p14:creationId xmlns:p14="http://schemas.microsoft.com/office/powerpoint/2010/main" val="2921257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B982-93D2-D0AC-DD2D-995A70F18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B6DC4-84FB-7B5D-D92B-70A8AA51C422}"/>
              </a:ext>
            </a:extLst>
          </p:cNvPr>
          <p:cNvSpPr>
            <a:spLocks noGrp="1"/>
          </p:cNvSpPr>
          <p:nvPr>
            <p:ph type="title"/>
          </p:nvPr>
        </p:nvSpPr>
        <p:spPr/>
        <p:txBody>
          <a:bodyPr/>
          <a:lstStyle/>
          <a:p>
            <a:r>
              <a:rPr lang="en-IN" b="1" dirty="0"/>
              <a:t>Business Analysis Methodologies</a:t>
            </a:r>
          </a:p>
        </p:txBody>
      </p:sp>
      <p:sp>
        <p:nvSpPr>
          <p:cNvPr id="3" name="Content Placeholder 2">
            <a:extLst>
              <a:ext uri="{FF2B5EF4-FFF2-40B4-BE49-F238E27FC236}">
                <a16:creationId xmlns:a16="http://schemas.microsoft.com/office/drawing/2014/main" id="{2A5F744C-7605-4D83-C603-969956EE1FA6}"/>
              </a:ext>
            </a:extLst>
          </p:cNvPr>
          <p:cNvSpPr>
            <a:spLocks noGrp="1"/>
          </p:cNvSpPr>
          <p:nvPr>
            <p:ph idx="1"/>
          </p:nvPr>
        </p:nvSpPr>
        <p:spPr/>
        <p:txBody>
          <a:bodyPr anchor="ctr"/>
          <a:lstStyle/>
          <a:p>
            <a:pPr marL="45720" indent="0">
              <a:buNone/>
            </a:pPr>
            <a:r>
              <a:rPr lang="en-US" b="1" dirty="0"/>
              <a:t>Software development methodologies</a:t>
            </a:r>
            <a:r>
              <a:rPr lang="en-US" dirty="0"/>
              <a:t> define how projects are planned and executed:</a:t>
            </a:r>
          </a:p>
          <a:p>
            <a:r>
              <a:rPr lang="en-US" b="1" dirty="0"/>
              <a:t>Waterfall Methodology: </a:t>
            </a:r>
            <a:r>
              <a:rPr lang="en-US" dirty="0"/>
              <a:t>A </a:t>
            </a:r>
            <a:r>
              <a:rPr lang="en-US" b="1" dirty="0"/>
              <a:t>linear and sequential approach</a:t>
            </a:r>
            <a:r>
              <a:rPr lang="en-US" dirty="0"/>
              <a:t> where each phase (requirements → design → development → testing → deployment) is completed before the next begins.</a:t>
            </a:r>
          </a:p>
          <a:p>
            <a:r>
              <a:rPr lang="en-US" b="1" dirty="0"/>
              <a:t>Agile Methodology: </a:t>
            </a:r>
            <a:r>
              <a:rPr lang="en-US" dirty="0"/>
              <a:t>An </a:t>
            </a:r>
            <a:r>
              <a:rPr lang="en-US" b="1" dirty="0"/>
              <a:t>iterative and incremental approach</a:t>
            </a:r>
            <a:r>
              <a:rPr lang="en-US" dirty="0"/>
              <a:t> that delivers work in </a:t>
            </a:r>
            <a:r>
              <a:rPr lang="en-US" b="1" dirty="0"/>
              <a:t>short cycles (sprints)</a:t>
            </a:r>
            <a:r>
              <a:rPr lang="en-US" dirty="0"/>
              <a:t>, allowing continuous feedback and improvement.</a:t>
            </a:r>
          </a:p>
          <a:p>
            <a:r>
              <a:rPr lang="en-US" b="1" dirty="0"/>
              <a:t>Hybrid Methodology: </a:t>
            </a:r>
            <a:r>
              <a:rPr lang="en-US" dirty="0"/>
              <a:t>A </a:t>
            </a:r>
            <a:r>
              <a:rPr lang="en-US" b="1" dirty="0"/>
              <a:t>combination of Waterfall and Agile</a:t>
            </a:r>
            <a:r>
              <a:rPr lang="en-US" dirty="0"/>
              <a:t>, using sequential planning for some parts and iterative delivery for others.</a:t>
            </a:r>
          </a:p>
        </p:txBody>
      </p:sp>
    </p:spTree>
    <p:extLst>
      <p:ext uri="{BB962C8B-B14F-4D97-AF65-F5344CB8AC3E}">
        <p14:creationId xmlns:p14="http://schemas.microsoft.com/office/powerpoint/2010/main" val="2114358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27E6-E972-E212-DD84-510666E47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330EF-5411-4BC5-4BEA-D78C7EB0B2A9}"/>
              </a:ext>
            </a:extLst>
          </p:cNvPr>
          <p:cNvSpPr>
            <a:spLocks noGrp="1"/>
          </p:cNvSpPr>
          <p:nvPr>
            <p:ph type="title"/>
          </p:nvPr>
        </p:nvSpPr>
        <p:spPr>
          <a:xfrm>
            <a:off x="787318" y="853440"/>
            <a:ext cx="9875520" cy="983226"/>
          </a:xfrm>
        </p:spPr>
        <p:txBody>
          <a:bodyPr/>
          <a:lstStyle/>
          <a:p>
            <a:r>
              <a:rPr lang="en-IN" b="1" dirty="0">
                <a:solidFill>
                  <a:schemeClr val="tx2">
                    <a:lumMod val="50000"/>
                    <a:lumOff val="50000"/>
                  </a:schemeClr>
                </a:solidFill>
              </a:rPr>
              <a:t>Stakeholder Management</a:t>
            </a:r>
          </a:p>
        </p:txBody>
      </p:sp>
      <p:sp>
        <p:nvSpPr>
          <p:cNvPr id="3" name="Content Placeholder 2">
            <a:extLst>
              <a:ext uri="{FF2B5EF4-FFF2-40B4-BE49-F238E27FC236}">
                <a16:creationId xmlns:a16="http://schemas.microsoft.com/office/drawing/2014/main" id="{DE3DAF40-D41A-07D8-665D-0FDC02CCBE95}"/>
              </a:ext>
            </a:extLst>
          </p:cNvPr>
          <p:cNvSpPr>
            <a:spLocks noGrp="1"/>
          </p:cNvSpPr>
          <p:nvPr>
            <p:ph idx="1"/>
          </p:nvPr>
        </p:nvSpPr>
        <p:spPr>
          <a:xfrm>
            <a:off x="787318" y="1965960"/>
            <a:ext cx="10991727" cy="4038600"/>
          </a:xfrm>
        </p:spPr>
        <p:txBody>
          <a:bodyPr anchor="ctr">
            <a:normAutofit fontScale="92500" lnSpcReduction="10000"/>
          </a:bodyPr>
          <a:lstStyle/>
          <a:p>
            <a:pPr marL="0" lvl="0" indent="0" eaLnBrk="0" fontAlgn="base" hangingPunct="0">
              <a:lnSpc>
                <a:spcPct val="100000"/>
              </a:lnSpc>
              <a:spcBef>
                <a:spcPct val="0"/>
              </a:spcBef>
              <a:spcAft>
                <a:spcPct val="0"/>
              </a:spcAft>
              <a:buClrTx/>
              <a:buSzTx/>
              <a:buNone/>
            </a:pPr>
            <a:r>
              <a:rPr lang="en-US" altLang="en-US" sz="2400" dirty="0">
                <a:solidFill>
                  <a:schemeClr val="accent5">
                    <a:lumMod val="75000"/>
                  </a:schemeClr>
                </a:solidFill>
                <a:latin typeface="Arial" panose="020B0604020202020204" pitchFamily="34" charset="0"/>
              </a:rPr>
              <a:t>Stakeholder Management is the process of identifying, engaging, and communicating with all individuals or groups who have an interest in a project or business initiative. It ensures that stakeholders’ needs and expectations are understood and addressed.</a:t>
            </a:r>
          </a:p>
          <a:p>
            <a:pPr marL="0" lvl="0" indent="0" eaLnBrk="0" fontAlgn="base" hangingPunct="0">
              <a:lnSpc>
                <a:spcPct val="100000"/>
              </a:lnSpc>
              <a:spcBef>
                <a:spcPct val="0"/>
              </a:spcBef>
              <a:spcAft>
                <a:spcPct val="0"/>
              </a:spcAft>
              <a:buClrTx/>
              <a:buSzTx/>
              <a:buNone/>
            </a:pPr>
            <a:endParaRPr lang="en-US" altLang="en-US" sz="2400" dirty="0">
              <a:solidFill>
                <a:schemeClr val="accent5">
                  <a:lumMod val="75000"/>
                </a:schemeClr>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2400" b="1" dirty="0">
                <a:solidFill>
                  <a:schemeClr val="accent5">
                    <a:lumMod val="75000"/>
                  </a:schemeClr>
                </a:solidFill>
                <a:latin typeface="Arial" panose="020B0604020202020204" pitchFamily="34" charset="0"/>
              </a:rPr>
              <a:t>Key Points:</a:t>
            </a:r>
            <a:endParaRPr lang="en-US" altLang="en-US" sz="2400" dirty="0">
              <a:solidFill>
                <a:schemeClr val="accent5">
                  <a:lumMod val="75000"/>
                </a:schemeClr>
              </a:solidFill>
              <a:latin typeface="Arial" panose="020B0604020202020204" pitchFamily="34" charset="0"/>
            </a:endParaRPr>
          </a:p>
          <a:p>
            <a:pPr marL="0" lvl="0" indent="0" eaLnBrk="0" fontAlgn="base" hangingPunct="0">
              <a:lnSpc>
                <a:spcPct val="160000"/>
              </a:lnSpc>
              <a:spcBef>
                <a:spcPct val="0"/>
              </a:spcBef>
              <a:spcAft>
                <a:spcPct val="0"/>
              </a:spcAft>
              <a:buClrTx/>
              <a:buSzTx/>
              <a:buFontTx/>
              <a:buChar char="•"/>
            </a:pPr>
            <a:r>
              <a:rPr lang="en-US" altLang="en-US" sz="2400" b="1" dirty="0">
                <a:solidFill>
                  <a:schemeClr val="accent5">
                    <a:lumMod val="75000"/>
                  </a:schemeClr>
                </a:solidFill>
                <a:latin typeface="Arial" panose="020B0604020202020204" pitchFamily="34" charset="0"/>
              </a:rPr>
              <a:t>Identify Stakeholders:</a:t>
            </a:r>
            <a:r>
              <a:rPr lang="en-US" altLang="en-US" sz="2400" dirty="0">
                <a:solidFill>
                  <a:schemeClr val="accent5">
                    <a:lumMod val="75000"/>
                  </a:schemeClr>
                </a:solidFill>
                <a:latin typeface="Arial" panose="020B0604020202020204" pitchFamily="34" charset="0"/>
              </a:rPr>
              <a:t> Determine who is affected by or can influence the project.</a:t>
            </a:r>
          </a:p>
          <a:p>
            <a:pPr marL="0" lvl="0" indent="0" eaLnBrk="0" fontAlgn="base" hangingPunct="0">
              <a:lnSpc>
                <a:spcPct val="100000"/>
              </a:lnSpc>
              <a:spcBef>
                <a:spcPct val="0"/>
              </a:spcBef>
              <a:spcAft>
                <a:spcPct val="0"/>
              </a:spcAft>
              <a:buClrTx/>
              <a:buSzTx/>
              <a:buFontTx/>
              <a:buChar char="•"/>
            </a:pPr>
            <a:r>
              <a:rPr lang="en-US" altLang="en-US" sz="2400" b="1" dirty="0">
                <a:solidFill>
                  <a:schemeClr val="accent5">
                    <a:lumMod val="75000"/>
                  </a:schemeClr>
                </a:solidFill>
                <a:latin typeface="Arial" panose="020B0604020202020204" pitchFamily="34" charset="0"/>
              </a:rPr>
              <a:t>Understand Expectations:</a:t>
            </a:r>
            <a:r>
              <a:rPr lang="en-US" altLang="en-US" sz="2400" dirty="0">
                <a:solidFill>
                  <a:schemeClr val="accent5">
                    <a:lumMod val="75000"/>
                  </a:schemeClr>
                </a:solidFill>
                <a:latin typeface="Arial" panose="020B0604020202020204" pitchFamily="34" charset="0"/>
              </a:rPr>
              <a:t> Learn stakeholders’ priorities, concerns, and requirements.</a:t>
            </a:r>
          </a:p>
          <a:p>
            <a:pPr marL="0" lvl="0" indent="0" eaLnBrk="0" fontAlgn="base" hangingPunct="0">
              <a:lnSpc>
                <a:spcPct val="100000"/>
              </a:lnSpc>
              <a:spcBef>
                <a:spcPct val="0"/>
              </a:spcBef>
              <a:spcAft>
                <a:spcPct val="0"/>
              </a:spcAft>
              <a:buClrTx/>
              <a:buSzTx/>
              <a:buFontTx/>
              <a:buChar char="•"/>
            </a:pPr>
            <a:r>
              <a:rPr lang="en-US" altLang="en-US" sz="2400" b="1" dirty="0">
                <a:solidFill>
                  <a:schemeClr val="accent5">
                    <a:lumMod val="75000"/>
                  </a:schemeClr>
                </a:solidFill>
                <a:latin typeface="Arial" panose="020B0604020202020204" pitchFamily="34" charset="0"/>
              </a:rPr>
              <a:t>Effective Communication:</a:t>
            </a:r>
            <a:r>
              <a:rPr lang="en-US" altLang="en-US" sz="2400" dirty="0">
                <a:solidFill>
                  <a:schemeClr val="accent5">
                    <a:lumMod val="75000"/>
                  </a:schemeClr>
                </a:solidFill>
                <a:latin typeface="Arial" panose="020B0604020202020204" pitchFamily="34" charset="0"/>
              </a:rPr>
              <a:t> Share information clearly and regularly to keep stakeholders informed.</a:t>
            </a:r>
          </a:p>
          <a:p>
            <a:pPr marL="0" lvl="0" indent="0" eaLnBrk="0" fontAlgn="base" hangingPunct="0">
              <a:lnSpc>
                <a:spcPct val="100000"/>
              </a:lnSpc>
              <a:spcBef>
                <a:spcPct val="0"/>
              </a:spcBef>
              <a:spcAft>
                <a:spcPct val="0"/>
              </a:spcAft>
              <a:buClrTx/>
              <a:buSzTx/>
              <a:buFontTx/>
              <a:buChar char="•"/>
            </a:pPr>
            <a:r>
              <a:rPr lang="en-US" altLang="en-US" sz="2400" b="1" dirty="0">
                <a:solidFill>
                  <a:schemeClr val="accent5">
                    <a:lumMod val="75000"/>
                  </a:schemeClr>
                </a:solidFill>
                <a:latin typeface="Arial" panose="020B0604020202020204" pitchFamily="34" charset="0"/>
              </a:rPr>
              <a:t>Manage Conflicts:</a:t>
            </a:r>
            <a:r>
              <a:rPr lang="en-US" altLang="en-US" sz="2400" dirty="0">
                <a:solidFill>
                  <a:schemeClr val="accent5">
                    <a:lumMod val="75000"/>
                  </a:schemeClr>
                </a:solidFill>
                <a:latin typeface="Arial" panose="020B0604020202020204" pitchFamily="34" charset="0"/>
              </a:rPr>
              <a:t> Resolve disagreements and align stakeholders with project goals.</a:t>
            </a:r>
          </a:p>
          <a:p>
            <a:pPr marL="0" lvl="0" indent="0" eaLnBrk="0" fontAlgn="base" hangingPunct="0">
              <a:lnSpc>
                <a:spcPct val="100000"/>
              </a:lnSpc>
              <a:spcBef>
                <a:spcPct val="0"/>
              </a:spcBef>
              <a:spcAft>
                <a:spcPct val="0"/>
              </a:spcAft>
              <a:buClrTx/>
              <a:buSzTx/>
              <a:buFontTx/>
              <a:buChar char="•"/>
            </a:pPr>
            <a:r>
              <a:rPr lang="en-US" altLang="en-US" sz="2400" b="1" dirty="0">
                <a:solidFill>
                  <a:schemeClr val="accent5">
                    <a:lumMod val="75000"/>
                  </a:schemeClr>
                </a:solidFill>
                <a:latin typeface="Arial" panose="020B0604020202020204" pitchFamily="34" charset="0"/>
              </a:rPr>
              <a:t>Ensure Engagement:</a:t>
            </a:r>
            <a:r>
              <a:rPr lang="en-US" altLang="en-US" sz="2400" dirty="0">
                <a:solidFill>
                  <a:schemeClr val="accent5">
                    <a:lumMod val="75000"/>
                  </a:schemeClr>
                </a:solidFill>
                <a:latin typeface="Arial" panose="020B0604020202020204" pitchFamily="34" charset="0"/>
              </a:rPr>
              <a:t> Involve stakeholders in decision-making and progress updates.</a:t>
            </a:r>
          </a:p>
        </p:txBody>
      </p:sp>
    </p:spTree>
    <p:extLst>
      <p:ext uri="{BB962C8B-B14F-4D97-AF65-F5344CB8AC3E}">
        <p14:creationId xmlns:p14="http://schemas.microsoft.com/office/powerpoint/2010/main" val="3232664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CA7AF-9355-6A17-0BB7-0C28795C9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ABAF8-5B4E-7B60-8367-5BA3DDB5D0C0}"/>
              </a:ext>
            </a:extLst>
          </p:cNvPr>
          <p:cNvSpPr>
            <a:spLocks noGrp="1"/>
          </p:cNvSpPr>
          <p:nvPr>
            <p:ph type="title"/>
          </p:nvPr>
        </p:nvSpPr>
        <p:spPr>
          <a:xfrm>
            <a:off x="1339738" y="550607"/>
            <a:ext cx="8596668" cy="1320800"/>
          </a:xfrm>
        </p:spPr>
        <p:txBody>
          <a:bodyPr/>
          <a:lstStyle/>
          <a:p>
            <a:r>
              <a:rPr lang="en-IN" b="1" dirty="0">
                <a:solidFill>
                  <a:schemeClr val="tx2">
                    <a:lumMod val="50000"/>
                    <a:lumOff val="50000"/>
                  </a:schemeClr>
                </a:solidFill>
              </a:rPr>
              <a:t>Data vs Information</a:t>
            </a:r>
          </a:p>
        </p:txBody>
      </p:sp>
      <p:graphicFrame>
        <p:nvGraphicFramePr>
          <p:cNvPr id="4" name="Content Placeholder 3">
            <a:extLst>
              <a:ext uri="{FF2B5EF4-FFF2-40B4-BE49-F238E27FC236}">
                <a16:creationId xmlns:a16="http://schemas.microsoft.com/office/drawing/2014/main" id="{A5277D4E-8BBD-6909-EFB3-88E6AB10A814}"/>
              </a:ext>
            </a:extLst>
          </p:cNvPr>
          <p:cNvGraphicFramePr>
            <a:graphicFrameLocks noGrp="1"/>
          </p:cNvGraphicFramePr>
          <p:nvPr>
            <p:ph idx="1"/>
            <p:extLst>
              <p:ext uri="{D42A27DB-BD31-4B8C-83A1-F6EECF244321}">
                <p14:modId xmlns:p14="http://schemas.microsoft.com/office/powerpoint/2010/main" val="2230471437"/>
              </p:ext>
            </p:extLst>
          </p:nvPr>
        </p:nvGraphicFramePr>
        <p:xfrm>
          <a:off x="1339738" y="2057399"/>
          <a:ext cx="10046016" cy="4107750"/>
        </p:xfrm>
        <a:graphic>
          <a:graphicData uri="http://schemas.openxmlformats.org/drawingml/2006/table">
            <a:tbl>
              <a:tblPr/>
              <a:tblGrid>
                <a:gridCol w="1820831">
                  <a:extLst>
                    <a:ext uri="{9D8B030D-6E8A-4147-A177-3AD203B41FA5}">
                      <a16:colId xmlns:a16="http://schemas.microsoft.com/office/drawing/2014/main" val="380794690"/>
                    </a:ext>
                  </a:extLst>
                </a:gridCol>
                <a:gridCol w="4501527">
                  <a:extLst>
                    <a:ext uri="{9D8B030D-6E8A-4147-A177-3AD203B41FA5}">
                      <a16:colId xmlns:a16="http://schemas.microsoft.com/office/drawing/2014/main" val="3262393023"/>
                    </a:ext>
                  </a:extLst>
                </a:gridCol>
                <a:gridCol w="3723658">
                  <a:extLst>
                    <a:ext uri="{9D8B030D-6E8A-4147-A177-3AD203B41FA5}">
                      <a16:colId xmlns:a16="http://schemas.microsoft.com/office/drawing/2014/main" val="1585148579"/>
                    </a:ext>
                  </a:extLst>
                </a:gridCol>
              </a:tblGrid>
              <a:tr h="420330">
                <a:tc>
                  <a:txBody>
                    <a:bodyPr/>
                    <a:lstStyle/>
                    <a:p>
                      <a:pPr>
                        <a:buNone/>
                      </a:pPr>
                      <a:r>
                        <a:rPr lang="en-IN" sz="1700" b="1" dirty="0">
                          <a:solidFill>
                            <a:schemeClr val="accent5">
                              <a:lumMod val="75000"/>
                            </a:schemeClr>
                          </a:solidFill>
                          <a:latin typeface="+mn-lt"/>
                        </a:rPr>
                        <a:t>Aspect</a:t>
                      </a:r>
                      <a:endParaRPr lang="en-IN" sz="1700" dirty="0">
                        <a:solidFill>
                          <a:schemeClr val="accent5">
                            <a:lumMod val="75000"/>
                          </a:schemeClr>
                        </a:solidFill>
                        <a:latin typeface="+mn-lt"/>
                      </a:endParaRPr>
                    </a:p>
                  </a:txBody>
                  <a:tcPr marL="87796" marR="87796" marT="43898" marB="43898" anchor="ctr">
                    <a:lnL>
                      <a:noFill/>
                    </a:lnL>
                    <a:lnR>
                      <a:noFill/>
                    </a:lnR>
                    <a:lnT>
                      <a:noFill/>
                    </a:lnT>
                    <a:lnB>
                      <a:noFill/>
                    </a:lnB>
                    <a:noFill/>
                  </a:tcPr>
                </a:tc>
                <a:tc>
                  <a:txBody>
                    <a:bodyPr/>
                    <a:lstStyle/>
                    <a:p>
                      <a:pPr>
                        <a:buNone/>
                      </a:pPr>
                      <a:r>
                        <a:rPr lang="en-IN" sz="1700" b="1">
                          <a:solidFill>
                            <a:schemeClr val="accent5">
                              <a:lumMod val="75000"/>
                            </a:schemeClr>
                          </a:solidFill>
                          <a:latin typeface="+mn-lt"/>
                        </a:rPr>
                        <a:t>Data</a:t>
                      </a:r>
                      <a:endParaRPr lang="en-IN" sz="1700">
                        <a:solidFill>
                          <a:schemeClr val="accent5">
                            <a:lumMod val="75000"/>
                          </a:schemeClr>
                        </a:solidFill>
                        <a:latin typeface="+mn-lt"/>
                      </a:endParaRPr>
                    </a:p>
                  </a:txBody>
                  <a:tcPr marL="87796" marR="87796" marT="43898" marB="43898" anchor="ctr">
                    <a:lnL>
                      <a:noFill/>
                    </a:lnL>
                    <a:lnR>
                      <a:noFill/>
                    </a:lnR>
                    <a:lnT>
                      <a:noFill/>
                    </a:lnT>
                    <a:lnB>
                      <a:noFill/>
                    </a:lnB>
                    <a:noFill/>
                  </a:tcPr>
                </a:tc>
                <a:tc>
                  <a:txBody>
                    <a:bodyPr/>
                    <a:lstStyle/>
                    <a:p>
                      <a:pPr>
                        <a:buNone/>
                      </a:pPr>
                      <a:r>
                        <a:rPr lang="en-IN" sz="1700" b="1">
                          <a:solidFill>
                            <a:schemeClr val="accent5">
                              <a:lumMod val="75000"/>
                            </a:schemeClr>
                          </a:solidFill>
                          <a:latin typeface="+mn-lt"/>
                        </a:rPr>
                        <a:t>Information</a:t>
                      </a:r>
                      <a:endParaRPr lang="en-IN" sz="1700">
                        <a:solidFill>
                          <a:schemeClr val="accent5">
                            <a:lumMod val="75000"/>
                          </a:schemeClr>
                        </a:solidFill>
                        <a:latin typeface="+mn-lt"/>
                      </a:endParaRPr>
                    </a:p>
                  </a:txBody>
                  <a:tcPr marL="87796" marR="87796" marT="43898" marB="43898" anchor="ctr">
                    <a:lnL>
                      <a:noFill/>
                    </a:lnL>
                    <a:lnR>
                      <a:noFill/>
                    </a:lnR>
                    <a:lnT>
                      <a:noFill/>
                    </a:lnT>
                    <a:lnB>
                      <a:noFill/>
                    </a:lnB>
                    <a:noFill/>
                  </a:tcPr>
                </a:tc>
                <a:extLst>
                  <a:ext uri="{0D108BD9-81ED-4DB2-BD59-A6C34878D82A}">
                    <a16:rowId xmlns:a16="http://schemas.microsoft.com/office/drawing/2014/main" val="3266217057"/>
                  </a:ext>
                </a:extLst>
              </a:tr>
              <a:tr h="614570">
                <a:tc>
                  <a:txBody>
                    <a:bodyPr/>
                    <a:lstStyle/>
                    <a:p>
                      <a:pPr>
                        <a:buNone/>
                      </a:pPr>
                      <a:r>
                        <a:rPr lang="en-IN" sz="1700" b="1" dirty="0">
                          <a:solidFill>
                            <a:schemeClr val="accent5">
                              <a:lumMod val="75000"/>
                            </a:schemeClr>
                          </a:solidFill>
                          <a:latin typeface="+mn-lt"/>
                        </a:rPr>
                        <a:t>Definition</a:t>
                      </a:r>
                      <a:endParaRPr lang="en-IN" sz="1700" dirty="0">
                        <a:solidFill>
                          <a:schemeClr val="accent5">
                            <a:lumMod val="75000"/>
                          </a:schemeClr>
                        </a:solidFill>
                        <a:latin typeface="+mn-lt"/>
                      </a:endParaRP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Raw facts and figures without context.</a:t>
                      </a: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Processed and organized data that is meaningful.</a:t>
                      </a:r>
                    </a:p>
                  </a:txBody>
                  <a:tcPr marL="87796" marR="87796" marT="43898" marB="43898" anchor="ctr">
                    <a:lnL>
                      <a:noFill/>
                    </a:lnL>
                    <a:lnR>
                      <a:noFill/>
                    </a:lnR>
                    <a:lnT>
                      <a:noFill/>
                    </a:lnT>
                    <a:lnB>
                      <a:noFill/>
                    </a:lnB>
                    <a:noFill/>
                  </a:tcPr>
                </a:tc>
                <a:extLst>
                  <a:ext uri="{0D108BD9-81ED-4DB2-BD59-A6C34878D82A}">
                    <a16:rowId xmlns:a16="http://schemas.microsoft.com/office/drawing/2014/main" val="1946669397"/>
                  </a:ext>
                </a:extLst>
              </a:tr>
              <a:tr h="614570">
                <a:tc>
                  <a:txBody>
                    <a:bodyPr/>
                    <a:lstStyle/>
                    <a:p>
                      <a:pPr>
                        <a:buNone/>
                      </a:pPr>
                      <a:r>
                        <a:rPr lang="en-IN" sz="1700" b="1">
                          <a:solidFill>
                            <a:schemeClr val="accent5">
                              <a:lumMod val="75000"/>
                            </a:schemeClr>
                          </a:solidFill>
                          <a:latin typeface="+mn-lt"/>
                        </a:rPr>
                        <a:t>Meaning</a:t>
                      </a:r>
                      <a:endParaRPr lang="en-IN" sz="1700">
                        <a:solidFill>
                          <a:schemeClr val="accent5">
                            <a:lumMod val="75000"/>
                          </a:schemeClr>
                        </a:solidFill>
                        <a:latin typeface="+mn-lt"/>
                      </a:endParaRPr>
                    </a:p>
                  </a:txBody>
                  <a:tcPr marL="87796" marR="87796" marT="43898" marB="43898" anchor="ctr">
                    <a:lnL>
                      <a:noFill/>
                    </a:lnL>
                    <a:lnR>
                      <a:noFill/>
                    </a:lnR>
                    <a:lnT>
                      <a:noFill/>
                    </a:lnT>
                    <a:lnB>
                      <a:noFill/>
                    </a:lnB>
                    <a:noFill/>
                  </a:tcPr>
                </a:tc>
                <a:tc>
                  <a:txBody>
                    <a:bodyPr/>
                    <a:lstStyle/>
                    <a:p>
                      <a:pPr>
                        <a:buNone/>
                      </a:pPr>
                      <a:r>
                        <a:rPr lang="en-IN" sz="1700">
                          <a:solidFill>
                            <a:schemeClr val="accent5">
                              <a:lumMod val="75000"/>
                            </a:schemeClr>
                          </a:solidFill>
                          <a:latin typeface="+mn-lt"/>
                        </a:rPr>
                        <a:t>Has no inherent meaning.</a:t>
                      </a: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Has meaning and is useful for decision-making.</a:t>
                      </a:r>
                    </a:p>
                  </a:txBody>
                  <a:tcPr marL="87796" marR="87796" marT="43898" marB="43898" anchor="ctr">
                    <a:lnL>
                      <a:noFill/>
                    </a:lnL>
                    <a:lnR>
                      <a:noFill/>
                    </a:lnR>
                    <a:lnT>
                      <a:noFill/>
                    </a:lnT>
                    <a:lnB>
                      <a:noFill/>
                    </a:lnB>
                    <a:noFill/>
                  </a:tcPr>
                </a:tc>
                <a:extLst>
                  <a:ext uri="{0D108BD9-81ED-4DB2-BD59-A6C34878D82A}">
                    <a16:rowId xmlns:a16="http://schemas.microsoft.com/office/drawing/2014/main" val="3574581613"/>
                  </a:ext>
                </a:extLst>
              </a:tr>
              <a:tr h="614570">
                <a:tc>
                  <a:txBody>
                    <a:bodyPr/>
                    <a:lstStyle/>
                    <a:p>
                      <a:pPr>
                        <a:buNone/>
                      </a:pPr>
                      <a:r>
                        <a:rPr lang="en-IN" sz="1700" b="1">
                          <a:solidFill>
                            <a:schemeClr val="accent5">
                              <a:lumMod val="75000"/>
                            </a:schemeClr>
                          </a:solidFill>
                          <a:latin typeface="+mn-lt"/>
                        </a:rPr>
                        <a:t>Format</a:t>
                      </a:r>
                      <a:endParaRPr lang="en-IN" sz="1700">
                        <a:solidFill>
                          <a:schemeClr val="accent5">
                            <a:lumMod val="75000"/>
                          </a:schemeClr>
                        </a:solidFill>
                        <a:latin typeface="+mn-lt"/>
                      </a:endParaRP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Numbers, text, symbols, or observations.</a:t>
                      </a: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Structured or summarized form derived from data.</a:t>
                      </a:r>
                    </a:p>
                  </a:txBody>
                  <a:tcPr marL="87796" marR="87796" marT="43898" marB="43898" anchor="ctr">
                    <a:lnL>
                      <a:noFill/>
                    </a:lnL>
                    <a:lnR>
                      <a:noFill/>
                    </a:lnR>
                    <a:lnT>
                      <a:noFill/>
                    </a:lnT>
                    <a:lnB>
                      <a:noFill/>
                    </a:lnB>
                    <a:noFill/>
                  </a:tcPr>
                </a:tc>
                <a:extLst>
                  <a:ext uri="{0D108BD9-81ED-4DB2-BD59-A6C34878D82A}">
                    <a16:rowId xmlns:a16="http://schemas.microsoft.com/office/drawing/2014/main" val="4095576493"/>
                  </a:ext>
                </a:extLst>
              </a:tr>
              <a:tr h="614570">
                <a:tc>
                  <a:txBody>
                    <a:bodyPr/>
                    <a:lstStyle/>
                    <a:p>
                      <a:pPr>
                        <a:buNone/>
                      </a:pPr>
                      <a:r>
                        <a:rPr lang="en-IN" sz="1700" b="1">
                          <a:solidFill>
                            <a:schemeClr val="accent5">
                              <a:lumMod val="75000"/>
                            </a:schemeClr>
                          </a:solidFill>
                          <a:latin typeface="+mn-lt"/>
                        </a:rPr>
                        <a:t>Purpose</a:t>
                      </a:r>
                      <a:endParaRPr lang="en-IN" sz="1700">
                        <a:solidFill>
                          <a:schemeClr val="accent5">
                            <a:lumMod val="75000"/>
                          </a:schemeClr>
                        </a:solidFill>
                        <a:latin typeface="+mn-lt"/>
                      </a:endParaRP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To be processed or analyzed.</a:t>
                      </a: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To support understanding and decisions.</a:t>
                      </a:r>
                    </a:p>
                  </a:txBody>
                  <a:tcPr marL="87796" marR="87796" marT="43898" marB="43898" anchor="ctr">
                    <a:lnL>
                      <a:noFill/>
                    </a:lnL>
                    <a:lnR>
                      <a:noFill/>
                    </a:lnR>
                    <a:lnT>
                      <a:noFill/>
                    </a:lnT>
                    <a:lnB>
                      <a:noFill/>
                    </a:lnB>
                    <a:noFill/>
                  </a:tcPr>
                </a:tc>
                <a:extLst>
                  <a:ext uri="{0D108BD9-81ED-4DB2-BD59-A6C34878D82A}">
                    <a16:rowId xmlns:a16="http://schemas.microsoft.com/office/drawing/2014/main" val="3901600122"/>
                  </a:ext>
                </a:extLst>
              </a:tr>
              <a:tr h="614570">
                <a:tc>
                  <a:txBody>
                    <a:bodyPr/>
                    <a:lstStyle/>
                    <a:p>
                      <a:pPr>
                        <a:buNone/>
                      </a:pPr>
                      <a:r>
                        <a:rPr lang="en-IN" sz="1700" b="1">
                          <a:solidFill>
                            <a:schemeClr val="accent5">
                              <a:lumMod val="75000"/>
                            </a:schemeClr>
                          </a:solidFill>
                          <a:latin typeface="+mn-lt"/>
                        </a:rPr>
                        <a:t>Example</a:t>
                      </a:r>
                      <a:endParaRPr lang="en-IN" sz="1700">
                        <a:solidFill>
                          <a:schemeClr val="accent5">
                            <a:lumMod val="75000"/>
                          </a:schemeClr>
                        </a:solidFill>
                        <a:latin typeface="+mn-lt"/>
                      </a:endParaRPr>
                    </a:p>
                  </a:txBody>
                  <a:tcPr marL="87796" marR="87796" marT="43898" marB="43898" anchor="ctr">
                    <a:lnL>
                      <a:noFill/>
                    </a:lnL>
                    <a:lnR>
                      <a:noFill/>
                    </a:lnR>
                    <a:lnT>
                      <a:noFill/>
                    </a:lnT>
                    <a:lnB>
                      <a:noFill/>
                    </a:lnB>
                    <a:noFill/>
                  </a:tcPr>
                </a:tc>
                <a:tc>
                  <a:txBody>
                    <a:bodyPr/>
                    <a:lstStyle/>
                    <a:p>
                      <a:pPr>
                        <a:buNone/>
                      </a:pPr>
                      <a:r>
                        <a:rPr lang="en-IN" sz="1700" dirty="0">
                          <a:solidFill>
                            <a:schemeClr val="accent5">
                              <a:lumMod val="75000"/>
                            </a:schemeClr>
                          </a:solidFill>
                          <a:latin typeface="+mn-lt"/>
                        </a:rPr>
                        <a:t>120, 200, 350</a:t>
                      </a: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Total sales for January are 670 units.</a:t>
                      </a:r>
                    </a:p>
                  </a:txBody>
                  <a:tcPr marL="87796" marR="87796" marT="43898" marB="43898" anchor="ctr">
                    <a:lnL>
                      <a:noFill/>
                    </a:lnL>
                    <a:lnR>
                      <a:noFill/>
                    </a:lnR>
                    <a:lnT>
                      <a:noFill/>
                    </a:lnT>
                    <a:lnB>
                      <a:noFill/>
                    </a:lnB>
                    <a:noFill/>
                  </a:tcPr>
                </a:tc>
                <a:extLst>
                  <a:ext uri="{0D108BD9-81ED-4DB2-BD59-A6C34878D82A}">
                    <a16:rowId xmlns:a16="http://schemas.microsoft.com/office/drawing/2014/main" val="1010263082"/>
                  </a:ext>
                </a:extLst>
              </a:tr>
              <a:tr h="614570">
                <a:tc>
                  <a:txBody>
                    <a:bodyPr/>
                    <a:lstStyle/>
                    <a:p>
                      <a:pPr>
                        <a:buNone/>
                      </a:pPr>
                      <a:r>
                        <a:rPr lang="en-IN" sz="1700" b="1">
                          <a:solidFill>
                            <a:schemeClr val="accent5">
                              <a:lumMod val="75000"/>
                            </a:schemeClr>
                          </a:solidFill>
                          <a:latin typeface="+mn-lt"/>
                        </a:rPr>
                        <a:t>Value</a:t>
                      </a:r>
                      <a:endParaRPr lang="en-IN" sz="1700">
                        <a:solidFill>
                          <a:schemeClr val="accent5">
                            <a:lumMod val="75000"/>
                          </a:schemeClr>
                        </a:solidFill>
                        <a:latin typeface="+mn-lt"/>
                      </a:endParaRPr>
                    </a:p>
                  </a:txBody>
                  <a:tcPr marL="87796" marR="87796" marT="43898" marB="43898" anchor="ctr">
                    <a:lnL>
                      <a:noFill/>
                    </a:lnL>
                    <a:lnR>
                      <a:noFill/>
                    </a:lnR>
                    <a:lnT>
                      <a:noFill/>
                    </a:lnT>
                    <a:lnB>
                      <a:noFill/>
                    </a:lnB>
                    <a:noFill/>
                  </a:tcPr>
                </a:tc>
                <a:tc>
                  <a:txBody>
                    <a:bodyPr/>
                    <a:lstStyle/>
                    <a:p>
                      <a:pPr>
                        <a:buNone/>
                      </a:pPr>
                      <a:r>
                        <a:rPr lang="en-US" sz="1700">
                          <a:solidFill>
                            <a:schemeClr val="accent5">
                              <a:lumMod val="75000"/>
                            </a:schemeClr>
                          </a:solidFill>
                          <a:latin typeface="+mn-lt"/>
                        </a:rPr>
                        <a:t>Low value on its own.</a:t>
                      </a:r>
                    </a:p>
                  </a:txBody>
                  <a:tcPr marL="87796" marR="87796" marT="43898" marB="43898" anchor="ctr">
                    <a:lnL>
                      <a:noFill/>
                    </a:lnL>
                    <a:lnR>
                      <a:noFill/>
                    </a:lnR>
                    <a:lnT>
                      <a:noFill/>
                    </a:lnT>
                    <a:lnB>
                      <a:noFill/>
                    </a:lnB>
                    <a:noFill/>
                  </a:tcPr>
                </a:tc>
                <a:tc>
                  <a:txBody>
                    <a:bodyPr/>
                    <a:lstStyle/>
                    <a:p>
                      <a:pPr>
                        <a:buNone/>
                      </a:pPr>
                      <a:r>
                        <a:rPr lang="en-US" sz="1700" dirty="0">
                          <a:solidFill>
                            <a:schemeClr val="accent5">
                              <a:lumMod val="75000"/>
                            </a:schemeClr>
                          </a:solidFill>
                          <a:latin typeface="+mn-lt"/>
                        </a:rPr>
                        <a:t>High value as it helps in decision-making.</a:t>
                      </a:r>
                    </a:p>
                  </a:txBody>
                  <a:tcPr marL="87796" marR="87796" marT="43898" marB="43898" anchor="ctr">
                    <a:lnL>
                      <a:noFill/>
                    </a:lnL>
                    <a:lnR>
                      <a:noFill/>
                    </a:lnR>
                    <a:lnT>
                      <a:noFill/>
                    </a:lnT>
                    <a:lnB>
                      <a:noFill/>
                    </a:lnB>
                    <a:noFill/>
                  </a:tcPr>
                </a:tc>
                <a:extLst>
                  <a:ext uri="{0D108BD9-81ED-4DB2-BD59-A6C34878D82A}">
                    <a16:rowId xmlns:a16="http://schemas.microsoft.com/office/drawing/2014/main" val="2418277603"/>
                  </a:ext>
                </a:extLst>
              </a:tr>
            </a:tbl>
          </a:graphicData>
        </a:graphic>
      </p:graphicFrame>
    </p:spTree>
    <p:extLst>
      <p:ext uri="{BB962C8B-B14F-4D97-AF65-F5344CB8AC3E}">
        <p14:creationId xmlns:p14="http://schemas.microsoft.com/office/powerpoint/2010/main" val="1983156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93CC390-8C55-C931-D568-9C4CDDEF4387}"/>
              </a:ext>
            </a:extLst>
          </p:cNvPr>
          <p:cNvSpPr txBox="1"/>
          <p:nvPr/>
        </p:nvSpPr>
        <p:spPr>
          <a:xfrm>
            <a:off x="1302774" y="3018504"/>
            <a:ext cx="9586452" cy="2677656"/>
          </a:xfrm>
          <a:prstGeom prst="rect">
            <a:avLst/>
          </a:prstGeom>
          <a:noFill/>
        </p:spPr>
        <p:txBody>
          <a:bodyPr wrap="square" rtlCol="0">
            <a:spAutoFit/>
          </a:bodyPr>
          <a:lstStyle/>
          <a:p>
            <a:r>
              <a:rPr lang="en-US" sz="2400" b="1" dirty="0">
                <a:solidFill>
                  <a:schemeClr val="accent5">
                    <a:lumMod val="75000"/>
                  </a:schemeClr>
                </a:solidFill>
              </a:rPr>
              <a:t>Data:</a:t>
            </a:r>
            <a:r>
              <a:rPr lang="en-US" sz="2400" dirty="0">
                <a:solidFill>
                  <a:schemeClr val="accent5">
                    <a:lumMod val="75000"/>
                  </a:schemeClr>
                </a:solidFill>
              </a:rPr>
              <a:t> Raw facts are collected from various sources without any context.</a:t>
            </a:r>
          </a:p>
          <a:p>
            <a:endParaRPr lang="en-US" sz="2400" dirty="0">
              <a:solidFill>
                <a:schemeClr val="accent5">
                  <a:lumMod val="75000"/>
                </a:schemeClr>
              </a:solidFill>
            </a:endParaRPr>
          </a:p>
          <a:p>
            <a:r>
              <a:rPr lang="en-US" sz="2400" b="1" dirty="0">
                <a:solidFill>
                  <a:schemeClr val="accent5">
                    <a:lumMod val="75000"/>
                  </a:schemeClr>
                </a:solidFill>
              </a:rPr>
              <a:t>Information:</a:t>
            </a:r>
            <a:r>
              <a:rPr lang="en-US" sz="2400" dirty="0">
                <a:solidFill>
                  <a:schemeClr val="accent5">
                    <a:lumMod val="75000"/>
                  </a:schemeClr>
                </a:solidFill>
              </a:rPr>
              <a:t> Collected data is processed and analyzed to give it meaning.</a:t>
            </a:r>
          </a:p>
          <a:p>
            <a:endParaRPr lang="en-US" sz="2400" dirty="0">
              <a:solidFill>
                <a:schemeClr val="accent5">
                  <a:lumMod val="75000"/>
                </a:schemeClr>
              </a:solidFill>
            </a:endParaRPr>
          </a:p>
          <a:p>
            <a:r>
              <a:rPr lang="en-US" sz="2400" b="1" dirty="0">
                <a:solidFill>
                  <a:schemeClr val="accent5">
                    <a:lumMod val="75000"/>
                  </a:schemeClr>
                </a:solidFill>
              </a:rPr>
              <a:t>Knowledge:</a:t>
            </a:r>
            <a:r>
              <a:rPr lang="en-US" sz="2400" dirty="0">
                <a:solidFill>
                  <a:schemeClr val="accent5">
                    <a:lumMod val="75000"/>
                  </a:schemeClr>
                </a:solidFill>
              </a:rPr>
              <a:t> Meaningful information is interpreted and applied to support decisions and actions.</a:t>
            </a:r>
          </a:p>
          <a:p>
            <a:endParaRPr lang="en-IN" sz="2400" dirty="0">
              <a:solidFill>
                <a:schemeClr val="accent5">
                  <a:lumMod val="75000"/>
                </a:schemeClr>
              </a:solidFill>
            </a:endParaRPr>
          </a:p>
        </p:txBody>
      </p:sp>
      <p:sp>
        <p:nvSpPr>
          <p:cNvPr id="8" name="TextBox 7">
            <a:extLst>
              <a:ext uri="{FF2B5EF4-FFF2-40B4-BE49-F238E27FC236}">
                <a16:creationId xmlns:a16="http://schemas.microsoft.com/office/drawing/2014/main" id="{413C2519-3F9A-5B26-2185-F8DC3539BF1C}"/>
              </a:ext>
            </a:extLst>
          </p:cNvPr>
          <p:cNvSpPr txBox="1"/>
          <p:nvPr/>
        </p:nvSpPr>
        <p:spPr>
          <a:xfrm>
            <a:off x="1302774" y="1161840"/>
            <a:ext cx="6808839" cy="769441"/>
          </a:xfrm>
          <a:prstGeom prst="rect">
            <a:avLst/>
          </a:prstGeom>
          <a:noFill/>
        </p:spPr>
        <p:txBody>
          <a:bodyPr wrap="square" rtlCol="0">
            <a:spAutoFit/>
          </a:bodyPr>
          <a:lstStyle/>
          <a:p>
            <a:r>
              <a:rPr lang="en-US" sz="4400" b="1" dirty="0">
                <a:solidFill>
                  <a:schemeClr val="tx2">
                    <a:lumMod val="50000"/>
                    <a:lumOff val="50000"/>
                  </a:schemeClr>
                </a:solidFill>
                <a:latin typeface="+mj-lt"/>
              </a:rPr>
              <a:t>Transformation Process :</a:t>
            </a:r>
            <a:endParaRPr lang="en-IN" sz="4400" b="1" dirty="0">
              <a:solidFill>
                <a:schemeClr val="tx2">
                  <a:lumMod val="50000"/>
                  <a:lumOff val="50000"/>
                </a:schemeClr>
              </a:solidFill>
              <a:latin typeface="+mj-lt"/>
            </a:endParaRPr>
          </a:p>
        </p:txBody>
      </p:sp>
    </p:spTree>
    <p:extLst>
      <p:ext uri="{BB962C8B-B14F-4D97-AF65-F5344CB8AC3E}">
        <p14:creationId xmlns:p14="http://schemas.microsoft.com/office/powerpoint/2010/main" val="1327638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8C6DD31-5C82-D470-98B1-E7D7945CA4DC}"/>
              </a:ext>
            </a:extLst>
          </p:cNvPr>
          <p:cNvSpPr txBox="1"/>
          <p:nvPr/>
        </p:nvSpPr>
        <p:spPr>
          <a:xfrm>
            <a:off x="1017638" y="2851355"/>
            <a:ext cx="10156723" cy="2554545"/>
          </a:xfrm>
          <a:prstGeom prst="rect">
            <a:avLst/>
          </a:prstGeom>
          <a:noFill/>
        </p:spPr>
        <p:txBody>
          <a:bodyPr wrap="square" rtlCol="0">
            <a:spAutoFit/>
          </a:bodyPr>
          <a:lstStyle/>
          <a:p>
            <a:pPr lvl="0" defTabSz="914400" eaLnBrk="0" fontAlgn="base" hangingPunct="0">
              <a:spcBef>
                <a:spcPct val="0"/>
              </a:spcBef>
              <a:spcAft>
                <a:spcPct val="0"/>
              </a:spcAft>
            </a:pPr>
            <a:r>
              <a:rPr lang="en-US" altLang="en-US" sz="2000" b="1" dirty="0">
                <a:solidFill>
                  <a:schemeClr val="accent5">
                    <a:lumMod val="75000"/>
                  </a:schemeClr>
                </a:solidFill>
                <a:latin typeface="Arial" panose="020B0604020202020204" pitchFamily="34" charset="0"/>
              </a:rPr>
              <a:t>Reduces uncertainty:</a:t>
            </a:r>
            <a:r>
              <a:rPr lang="en-US" altLang="en-US" sz="2000" dirty="0">
                <a:solidFill>
                  <a:schemeClr val="accent5">
                    <a:lumMod val="75000"/>
                  </a:schemeClr>
                </a:solidFill>
                <a:latin typeface="Arial" panose="020B0604020202020204" pitchFamily="34" charset="0"/>
              </a:rPr>
              <a:t> Information provides clarity by replacing guesswork with facts and evidence.</a:t>
            </a:r>
          </a:p>
          <a:p>
            <a:pPr lvl="0" defTabSz="914400" eaLnBrk="0" fontAlgn="base" hangingPunct="0">
              <a:spcBef>
                <a:spcPct val="0"/>
              </a:spcBef>
              <a:spcAft>
                <a:spcPct val="0"/>
              </a:spcAft>
            </a:pPr>
            <a:endParaRPr lang="en-US" altLang="en-US" sz="2000" dirty="0">
              <a:solidFill>
                <a:schemeClr val="accent5">
                  <a:lumMod val="75000"/>
                </a:schemeClr>
              </a:solidFill>
              <a:latin typeface="Arial" panose="020B0604020202020204" pitchFamily="34" charset="0"/>
            </a:endParaRPr>
          </a:p>
          <a:p>
            <a:pPr lvl="0" defTabSz="914400" eaLnBrk="0" fontAlgn="base" hangingPunct="0">
              <a:spcBef>
                <a:spcPct val="0"/>
              </a:spcBef>
              <a:spcAft>
                <a:spcPct val="0"/>
              </a:spcAft>
            </a:pPr>
            <a:r>
              <a:rPr lang="en-US" altLang="en-US" sz="2000" b="1" dirty="0">
                <a:solidFill>
                  <a:schemeClr val="accent5">
                    <a:lumMod val="75000"/>
                  </a:schemeClr>
                </a:solidFill>
                <a:latin typeface="Arial" panose="020B0604020202020204" pitchFamily="34" charset="0"/>
              </a:rPr>
              <a:t>Improves accuracy:</a:t>
            </a:r>
            <a:r>
              <a:rPr lang="en-US" altLang="en-US" sz="2000" dirty="0">
                <a:solidFill>
                  <a:schemeClr val="accent5">
                    <a:lumMod val="75000"/>
                  </a:schemeClr>
                </a:solidFill>
                <a:latin typeface="Arial" panose="020B0604020202020204" pitchFamily="34" charset="0"/>
              </a:rPr>
              <a:t> Decisions become more precise when based on reliable and relevant information.</a:t>
            </a:r>
          </a:p>
          <a:p>
            <a:pPr lvl="0" defTabSz="914400" eaLnBrk="0" fontAlgn="base" hangingPunct="0">
              <a:spcBef>
                <a:spcPct val="0"/>
              </a:spcBef>
              <a:spcAft>
                <a:spcPct val="0"/>
              </a:spcAft>
            </a:pPr>
            <a:endParaRPr lang="en-US" altLang="en-US" sz="2000" dirty="0">
              <a:solidFill>
                <a:schemeClr val="accent5">
                  <a:lumMod val="75000"/>
                </a:schemeClr>
              </a:solidFill>
              <a:latin typeface="Arial" panose="020B0604020202020204" pitchFamily="34" charset="0"/>
            </a:endParaRPr>
          </a:p>
          <a:p>
            <a:pPr lvl="0" defTabSz="914400" eaLnBrk="0" fontAlgn="base" hangingPunct="0">
              <a:spcBef>
                <a:spcPct val="0"/>
              </a:spcBef>
              <a:spcAft>
                <a:spcPct val="0"/>
              </a:spcAft>
            </a:pPr>
            <a:r>
              <a:rPr lang="en-US" altLang="en-US" sz="2000" b="1" dirty="0">
                <a:solidFill>
                  <a:schemeClr val="accent5">
                    <a:lumMod val="75000"/>
                  </a:schemeClr>
                </a:solidFill>
                <a:latin typeface="Arial" panose="020B0604020202020204" pitchFamily="34" charset="0"/>
              </a:rPr>
              <a:t>Supports strategic planning:</a:t>
            </a:r>
            <a:r>
              <a:rPr lang="en-US" altLang="en-US" sz="2000" dirty="0">
                <a:solidFill>
                  <a:schemeClr val="accent5">
                    <a:lumMod val="75000"/>
                  </a:schemeClr>
                </a:solidFill>
                <a:latin typeface="Arial" panose="020B0604020202020204" pitchFamily="34" charset="0"/>
              </a:rPr>
              <a:t> Information helps organizations set goals, forecast trends, and plan effectively.</a:t>
            </a:r>
          </a:p>
        </p:txBody>
      </p:sp>
      <p:sp>
        <p:nvSpPr>
          <p:cNvPr id="9" name="TextBox 8">
            <a:extLst>
              <a:ext uri="{FF2B5EF4-FFF2-40B4-BE49-F238E27FC236}">
                <a16:creationId xmlns:a16="http://schemas.microsoft.com/office/drawing/2014/main" id="{38E9A6F6-4F87-71C6-1BC6-580804C24EEC}"/>
              </a:ext>
            </a:extLst>
          </p:cNvPr>
          <p:cNvSpPr txBox="1"/>
          <p:nvPr/>
        </p:nvSpPr>
        <p:spPr>
          <a:xfrm>
            <a:off x="919315" y="971246"/>
            <a:ext cx="10761408" cy="707886"/>
          </a:xfrm>
          <a:prstGeom prst="rect">
            <a:avLst/>
          </a:prstGeom>
          <a:noFill/>
        </p:spPr>
        <p:txBody>
          <a:bodyPr wrap="square" rtlCol="0">
            <a:spAutoFit/>
          </a:bodyPr>
          <a:lstStyle/>
          <a:p>
            <a:r>
              <a:rPr lang="en-US" sz="4000" b="1" dirty="0">
                <a:solidFill>
                  <a:schemeClr val="tx2">
                    <a:lumMod val="50000"/>
                    <a:lumOff val="50000"/>
                  </a:schemeClr>
                </a:solidFill>
                <a:latin typeface="+mj-lt"/>
              </a:rPr>
              <a:t>Value of Information in Decision Making :</a:t>
            </a:r>
            <a:endParaRPr lang="en-IN" sz="4000" b="1" dirty="0">
              <a:solidFill>
                <a:schemeClr val="tx2">
                  <a:lumMod val="50000"/>
                  <a:lumOff val="50000"/>
                </a:schemeClr>
              </a:solidFill>
              <a:latin typeface="+mj-lt"/>
            </a:endParaRPr>
          </a:p>
        </p:txBody>
      </p:sp>
    </p:spTree>
    <p:extLst>
      <p:ext uri="{BB962C8B-B14F-4D97-AF65-F5344CB8AC3E}">
        <p14:creationId xmlns:p14="http://schemas.microsoft.com/office/powerpoint/2010/main" val="37895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3860159A-23EA-33DC-77C7-0563243764A8}"/>
              </a:ext>
            </a:extLst>
          </p:cNvPr>
          <p:cNvSpPr txBox="1"/>
          <p:nvPr/>
        </p:nvSpPr>
        <p:spPr>
          <a:xfrm>
            <a:off x="1189702" y="2898424"/>
            <a:ext cx="8632723" cy="255454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Decisions based on facts: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Choices are made using verified data rather than assumptions or intuition.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Use of analytics: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Analytical tools are applied to identify patterns, trends, and insights from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Objective decision-making:</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Decisions remain unbiased and consistent by relying on measurable evidence.</a:t>
            </a:r>
          </a:p>
        </p:txBody>
      </p:sp>
      <p:sp>
        <p:nvSpPr>
          <p:cNvPr id="16" name="TextBox 15">
            <a:extLst>
              <a:ext uri="{FF2B5EF4-FFF2-40B4-BE49-F238E27FC236}">
                <a16:creationId xmlns:a16="http://schemas.microsoft.com/office/drawing/2014/main" id="{21A3D2D6-B2E1-1E77-FE2D-54F30797449B}"/>
              </a:ext>
            </a:extLst>
          </p:cNvPr>
          <p:cNvSpPr txBox="1"/>
          <p:nvPr/>
        </p:nvSpPr>
        <p:spPr>
          <a:xfrm>
            <a:off x="1189702" y="1405031"/>
            <a:ext cx="10353369" cy="646331"/>
          </a:xfrm>
          <a:prstGeom prst="rect">
            <a:avLst/>
          </a:prstGeom>
          <a:noFill/>
        </p:spPr>
        <p:txBody>
          <a:bodyPr wrap="square" rtlCol="0">
            <a:spAutoFit/>
          </a:bodyPr>
          <a:lstStyle/>
          <a:p>
            <a:r>
              <a:rPr lang="en-US" sz="3600" b="1" dirty="0">
                <a:solidFill>
                  <a:schemeClr val="tx2">
                    <a:lumMod val="50000"/>
                    <a:lumOff val="50000"/>
                  </a:schemeClr>
                </a:solidFill>
                <a:latin typeface="+mj-lt"/>
              </a:rPr>
              <a:t>Principles of  Data-Driven Decision Making</a:t>
            </a:r>
          </a:p>
        </p:txBody>
      </p:sp>
    </p:spTree>
    <p:extLst>
      <p:ext uri="{BB962C8B-B14F-4D97-AF65-F5344CB8AC3E}">
        <p14:creationId xmlns:p14="http://schemas.microsoft.com/office/powerpoint/2010/main" val="2836886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
            <a:extLst>
              <a:ext uri="{FF2B5EF4-FFF2-40B4-BE49-F238E27FC236}">
                <a16:creationId xmlns:a16="http://schemas.microsoft.com/office/drawing/2014/main" id="{8557F0D0-4499-E68E-437E-870E01BDC002}"/>
              </a:ext>
            </a:extLst>
          </p:cNvPr>
          <p:cNvSpPr>
            <a:spLocks noChangeArrowheads="1"/>
          </p:cNvSpPr>
          <p:nvPr/>
        </p:nvSpPr>
        <p:spPr bwMode="auto">
          <a:xfrm>
            <a:off x="649351" y="2454071"/>
            <a:ext cx="1042177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Better business performance:</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Data helps identify opportunities and optimize processes, leading to improved results.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Reduced risk:</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Informed decisions lower uncertainty and help anticipate potential problems.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Improved efficiency:</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Data highlights inefficiencies and enables smarter use of resources.</a:t>
            </a:r>
          </a:p>
        </p:txBody>
      </p:sp>
      <p:sp>
        <p:nvSpPr>
          <p:cNvPr id="16" name="TextBox 15">
            <a:extLst>
              <a:ext uri="{FF2B5EF4-FFF2-40B4-BE49-F238E27FC236}">
                <a16:creationId xmlns:a16="http://schemas.microsoft.com/office/drawing/2014/main" id="{D7369E6C-ACDB-E56A-5793-DD5C401A1793}"/>
              </a:ext>
            </a:extLst>
          </p:cNvPr>
          <p:cNvSpPr txBox="1"/>
          <p:nvPr/>
        </p:nvSpPr>
        <p:spPr>
          <a:xfrm>
            <a:off x="649351" y="1160207"/>
            <a:ext cx="8769952" cy="707886"/>
          </a:xfrm>
          <a:prstGeom prst="rect">
            <a:avLst/>
          </a:prstGeom>
          <a:noFill/>
        </p:spPr>
        <p:txBody>
          <a:bodyPr wrap="square" rtlCol="0">
            <a:spAutoFit/>
          </a:bodyPr>
          <a:lstStyle/>
          <a:p>
            <a:r>
              <a:rPr lang="en-US" sz="4000" b="1" dirty="0">
                <a:solidFill>
                  <a:schemeClr val="tx2">
                    <a:lumMod val="50000"/>
                    <a:lumOff val="50000"/>
                  </a:schemeClr>
                </a:solidFill>
                <a:latin typeface="+mj-lt"/>
              </a:rPr>
              <a:t>Benefits of using Data for Decisions</a:t>
            </a:r>
            <a:endParaRPr lang="en-IN" sz="4000" b="1" dirty="0">
              <a:solidFill>
                <a:schemeClr val="tx2">
                  <a:lumMod val="50000"/>
                  <a:lumOff val="50000"/>
                </a:schemeClr>
              </a:solidFill>
              <a:latin typeface="+mj-lt"/>
            </a:endParaRPr>
          </a:p>
        </p:txBody>
      </p:sp>
    </p:spTree>
    <p:extLst>
      <p:ext uri="{BB962C8B-B14F-4D97-AF65-F5344CB8AC3E}">
        <p14:creationId xmlns:p14="http://schemas.microsoft.com/office/powerpoint/2010/main" val="1860649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55F94A7F-729E-9920-FC3C-6A53697190BB}"/>
              </a:ext>
            </a:extLst>
          </p:cNvPr>
          <p:cNvSpPr>
            <a:spLocks noChangeArrowheads="1"/>
          </p:cNvSpPr>
          <p:nvPr/>
        </p:nvSpPr>
        <p:spPr bwMode="auto">
          <a:xfrm>
            <a:off x="724978" y="2472699"/>
            <a:ext cx="900895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Define the problem:</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Clearly identify the issue or goal to focus the decision-making process.</a:t>
            </a: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Collect data:</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Gather relevant and reliable data related to the problem.</a:t>
            </a: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Analyze data:</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Examine the data to discover patterns, trends, and insights.</a:t>
            </a: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Take action:</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Use insights to make informed decisions and implement solutions.</a:t>
            </a:r>
          </a:p>
          <a:p>
            <a:pPr marL="457200" marR="0" lvl="0" indent="-457200" algn="l" defTabSz="914400" rtl="0" eaLnBrk="0" fontAlgn="base" latinLnBrk="0" hangingPunct="0">
              <a:lnSpc>
                <a:spcPct val="100000"/>
              </a:lnSpc>
              <a:spcBef>
                <a:spcPct val="0"/>
              </a:spcBef>
              <a:spcAft>
                <a:spcPct val="0"/>
              </a:spcAft>
              <a:buClrTx/>
              <a:buSzPct val="110000"/>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
        <p:nvSpPr>
          <p:cNvPr id="11" name="TextBox 10">
            <a:extLst>
              <a:ext uri="{FF2B5EF4-FFF2-40B4-BE49-F238E27FC236}">
                <a16:creationId xmlns:a16="http://schemas.microsoft.com/office/drawing/2014/main" id="{4AD073F7-CFA5-2AE2-FDFC-8CDD8B7176CA}"/>
              </a:ext>
            </a:extLst>
          </p:cNvPr>
          <p:cNvSpPr txBox="1"/>
          <p:nvPr/>
        </p:nvSpPr>
        <p:spPr>
          <a:xfrm>
            <a:off x="724978" y="1209367"/>
            <a:ext cx="9343254" cy="707886"/>
          </a:xfrm>
          <a:prstGeom prst="rect">
            <a:avLst/>
          </a:prstGeom>
          <a:noFill/>
        </p:spPr>
        <p:txBody>
          <a:bodyPr wrap="square" rtlCol="0">
            <a:spAutoFit/>
          </a:bodyPr>
          <a:lstStyle/>
          <a:p>
            <a:r>
              <a:rPr lang="en-US" sz="4000" b="1" dirty="0">
                <a:solidFill>
                  <a:schemeClr val="tx2">
                    <a:lumMod val="50000"/>
                    <a:lumOff val="50000"/>
                  </a:schemeClr>
                </a:solidFill>
                <a:latin typeface="+mj-lt"/>
              </a:rPr>
              <a:t>Steps in Data-Driven Decision Process</a:t>
            </a:r>
            <a:endParaRPr lang="en-IN" sz="4000" b="1" dirty="0">
              <a:solidFill>
                <a:schemeClr val="tx2">
                  <a:lumMod val="50000"/>
                  <a:lumOff val="50000"/>
                </a:schemeClr>
              </a:solidFill>
              <a:latin typeface="+mj-lt"/>
            </a:endParaRPr>
          </a:p>
        </p:txBody>
      </p:sp>
    </p:spTree>
    <p:extLst>
      <p:ext uri="{BB962C8B-B14F-4D97-AF65-F5344CB8AC3E}">
        <p14:creationId xmlns:p14="http://schemas.microsoft.com/office/powerpoint/2010/main" val="2970464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68A33F0E-5B0A-C4C8-831D-F37B1E6FB3B1}"/>
              </a:ext>
            </a:extLst>
          </p:cNvPr>
          <p:cNvSpPr>
            <a:spLocks noChangeArrowheads="1"/>
          </p:cNvSpPr>
          <p:nvPr/>
        </p:nvSpPr>
        <p:spPr bwMode="auto">
          <a:xfrm>
            <a:off x="639495" y="2596069"/>
            <a:ext cx="93697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Poor data quality:</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Inaccurate or incomplete data can lead to wrong conclusions and decisions.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Privacy issues: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Misuse of data can violate regulations and damage trust.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Resistance to change:</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Employees may hesitate to adopt data-driven methods due to habits or lack of skills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
        <p:nvSpPr>
          <p:cNvPr id="8" name="TextBox 7">
            <a:extLst>
              <a:ext uri="{FF2B5EF4-FFF2-40B4-BE49-F238E27FC236}">
                <a16:creationId xmlns:a16="http://schemas.microsoft.com/office/drawing/2014/main" id="{FCF9EAEA-5116-A2E0-0CCC-2F2CCB2788ED}"/>
              </a:ext>
            </a:extLst>
          </p:cNvPr>
          <p:cNvSpPr txBox="1"/>
          <p:nvPr/>
        </p:nvSpPr>
        <p:spPr>
          <a:xfrm>
            <a:off x="639495" y="1553498"/>
            <a:ext cx="10097331" cy="707886"/>
          </a:xfrm>
          <a:prstGeom prst="rect">
            <a:avLst/>
          </a:prstGeom>
          <a:noFill/>
        </p:spPr>
        <p:txBody>
          <a:bodyPr wrap="square" rtlCol="0">
            <a:spAutoFit/>
          </a:bodyPr>
          <a:lstStyle/>
          <a:p>
            <a:r>
              <a:rPr lang="en-US" sz="4000" b="1" dirty="0">
                <a:solidFill>
                  <a:schemeClr val="tx2">
                    <a:lumMod val="50000"/>
                    <a:lumOff val="50000"/>
                  </a:schemeClr>
                </a:solidFill>
                <a:latin typeface="+mj-lt"/>
              </a:rPr>
              <a:t>Challenges in Data-Drives Decision Process</a:t>
            </a:r>
            <a:endParaRPr lang="en-IN" sz="4000" b="1" dirty="0">
              <a:solidFill>
                <a:schemeClr val="tx2">
                  <a:lumMod val="50000"/>
                  <a:lumOff val="50000"/>
                </a:schemeClr>
              </a:solidFill>
              <a:latin typeface="+mj-lt"/>
            </a:endParaRPr>
          </a:p>
        </p:txBody>
      </p:sp>
    </p:spTree>
    <p:extLst>
      <p:ext uri="{BB962C8B-B14F-4D97-AF65-F5344CB8AC3E}">
        <p14:creationId xmlns:p14="http://schemas.microsoft.com/office/powerpoint/2010/main" val="2717993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980E1-657F-E2CB-291E-01F601BBA415}"/>
              </a:ext>
            </a:extLst>
          </p:cNvPr>
          <p:cNvSpPr>
            <a:spLocks noChangeArrowheads="1"/>
          </p:cNvSpPr>
          <p:nvPr/>
        </p:nvSpPr>
        <p:spPr bwMode="auto">
          <a:xfrm>
            <a:off x="586504" y="2603493"/>
            <a:ext cx="962921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E-commerce recommendations: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Customer data is analyzed to suggest relevant products and improve sales.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Banking fraud detection:</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Transaction data is monitored to identify unusual patterns and prevent fraud.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Healthcare data analysis: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Patient data is used to improve diagnosis, treatment, and operational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
        <p:nvSpPr>
          <p:cNvPr id="3" name="TextBox 2">
            <a:extLst>
              <a:ext uri="{FF2B5EF4-FFF2-40B4-BE49-F238E27FC236}">
                <a16:creationId xmlns:a16="http://schemas.microsoft.com/office/drawing/2014/main" id="{4FABC34F-0675-9A54-D9A7-49F8F402D1F6}"/>
              </a:ext>
            </a:extLst>
          </p:cNvPr>
          <p:cNvSpPr txBox="1"/>
          <p:nvPr/>
        </p:nvSpPr>
        <p:spPr>
          <a:xfrm>
            <a:off x="586503" y="1327355"/>
            <a:ext cx="8449342" cy="707886"/>
          </a:xfrm>
          <a:prstGeom prst="rect">
            <a:avLst/>
          </a:prstGeom>
          <a:noFill/>
        </p:spPr>
        <p:txBody>
          <a:bodyPr wrap="square" rtlCol="0">
            <a:spAutoFit/>
          </a:bodyPr>
          <a:lstStyle/>
          <a:p>
            <a:r>
              <a:rPr lang="en-US" sz="4000" b="1" dirty="0">
                <a:solidFill>
                  <a:schemeClr val="tx2">
                    <a:lumMod val="50000"/>
                    <a:lumOff val="50000"/>
                  </a:schemeClr>
                </a:solidFill>
                <a:latin typeface="+mj-lt"/>
              </a:rPr>
              <a:t>Analysis of Business Scenarios</a:t>
            </a:r>
            <a:endParaRPr lang="en-IN" sz="4000" b="1" dirty="0">
              <a:solidFill>
                <a:schemeClr val="tx2">
                  <a:lumMod val="50000"/>
                  <a:lumOff val="50000"/>
                </a:schemeClr>
              </a:solidFill>
              <a:latin typeface="+mj-lt"/>
            </a:endParaRPr>
          </a:p>
        </p:txBody>
      </p:sp>
    </p:spTree>
    <p:extLst>
      <p:ext uri="{BB962C8B-B14F-4D97-AF65-F5344CB8AC3E}">
        <p14:creationId xmlns:p14="http://schemas.microsoft.com/office/powerpoint/2010/main" val="1308323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74D986-C81A-468C-91E3-07C9DE5BDBD8}"/>
              </a:ext>
            </a:extLst>
          </p:cNvPr>
          <p:cNvSpPr>
            <a:spLocks noChangeArrowheads="1"/>
          </p:cNvSpPr>
          <p:nvPr/>
        </p:nvSpPr>
        <p:spPr bwMode="auto">
          <a:xfrm>
            <a:off x="670973" y="3436288"/>
            <a:ext cx="106927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accent5">
                  <a:lumMod val="75000"/>
                </a:schemeClr>
              </a:solidFill>
              <a:effectLst/>
              <a:latin typeface="Arial" panose="020B0604020202020204" pitchFamily="34" charset="0"/>
            </a:endParaRPr>
          </a:p>
        </p:txBody>
      </p:sp>
      <p:sp>
        <p:nvSpPr>
          <p:cNvPr id="3" name="TextBox 2">
            <a:extLst>
              <a:ext uri="{FF2B5EF4-FFF2-40B4-BE49-F238E27FC236}">
                <a16:creationId xmlns:a16="http://schemas.microsoft.com/office/drawing/2014/main" id="{A593CDC8-0D6B-12A1-B919-DF88FB5F9690}"/>
              </a:ext>
            </a:extLst>
          </p:cNvPr>
          <p:cNvSpPr txBox="1"/>
          <p:nvPr/>
        </p:nvSpPr>
        <p:spPr>
          <a:xfrm>
            <a:off x="670973" y="1396180"/>
            <a:ext cx="7325032" cy="707886"/>
          </a:xfrm>
          <a:prstGeom prst="rect">
            <a:avLst/>
          </a:prstGeom>
          <a:noFill/>
        </p:spPr>
        <p:txBody>
          <a:bodyPr wrap="square" rtlCol="0">
            <a:spAutoFit/>
          </a:bodyPr>
          <a:lstStyle/>
          <a:p>
            <a:r>
              <a:rPr lang="en-US" sz="4000" b="1" dirty="0">
                <a:solidFill>
                  <a:schemeClr val="tx2">
                    <a:lumMod val="50000"/>
                    <a:lumOff val="50000"/>
                  </a:schemeClr>
                </a:solidFill>
                <a:latin typeface="+mj-lt"/>
              </a:rPr>
              <a:t>What is Data Governance ?</a:t>
            </a:r>
            <a:endParaRPr lang="en-IN" sz="4000" b="1" dirty="0">
              <a:solidFill>
                <a:schemeClr val="tx2">
                  <a:lumMod val="50000"/>
                  <a:lumOff val="50000"/>
                </a:schemeClr>
              </a:solidFill>
              <a:latin typeface="+mj-lt"/>
            </a:endParaRPr>
          </a:p>
        </p:txBody>
      </p:sp>
      <p:sp>
        <p:nvSpPr>
          <p:cNvPr id="5" name="Rectangle 3">
            <a:extLst>
              <a:ext uri="{FF2B5EF4-FFF2-40B4-BE49-F238E27FC236}">
                <a16:creationId xmlns:a16="http://schemas.microsoft.com/office/drawing/2014/main" id="{2C09B498-AB6D-BB05-8280-7639D8B1A020}"/>
              </a:ext>
            </a:extLst>
          </p:cNvPr>
          <p:cNvSpPr>
            <a:spLocks noChangeArrowheads="1"/>
          </p:cNvSpPr>
          <p:nvPr/>
        </p:nvSpPr>
        <p:spPr bwMode="auto">
          <a:xfrm>
            <a:off x="670973" y="2630080"/>
            <a:ext cx="944642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i="0" u="none" strike="noStrike" cap="none" normalizeH="0" baseline="0" dirty="0">
                <a:ln>
                  <a:noFill/>
                </a:ln>
                <a:solidFill>
                  <a:schemeClr val="accent5">
                    <a:lumMod val="75000"/>
                  </a:schemeClr>
                </a:solidFill>
                <a:effectLst/>
                <a:latin typeface="Arial" panose="020B0604020202020204" pitchFamily="34" charset="0"/>
              </a:rPr>
              <a:t>Data governance </a:t>
            </a:r>
            <a:r>
              <a:rPr kumimoji="0" lang="en-US" altLang="en-US" sz="2800" b="0" i="0" u="none" strike="noStrike" cap="none" normalizeH="0" baseline="0" dirty="0">
                <a:ln>
                  <a:noFill/>
                </a:ln>
                <a:solidFill>
                  <a:schemeClr val="accent5">
                    <a:lumMod val="75000"/>
                  </a:schemeClr>
                </a:solidFill>
                <a:effectLst/>
                <a:latin typeface="Arial" panose="020B0604020202020204" pitchFamily="34" charset="0"/>
              </a:rPr>
              <a:t>is a framework of policies, processes, and roles that ensures an organization’s data is accurate, secure, accessible, and used responsibly. It helps maintain data quality, comply with regulations, and supports effective decision-making.</a:t>
            </a:r>
          </a:p>
        </p:txBody>
      </p:sp>
    </p:spTree>
    <p:extLst>
      <p:ext uri="{BB962C8B-B14F-4D97-AF65-F5344CB8AC3E}">
        <p14:creationId xmlns:p14="http://schemas.microsoft.com/office/powerpoint/2010/main" val="2330665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6AE62B-F7C5-1623-183E-85BAF0C4C9BF}"/>
              </a:ext>
            </a:extLst>
          </p:cNvPr>
          <p:cNvSpPr txBox="1"/>
          <p:nvPr/>
        </p:nvSpPr>
        <p:spPr>
          <a:xfrm>
            <a:off x="793820" y="824600"/>
            <a:ext cx="6442721" cy="707886"/>
          </a:xfrm>
          <a:prstGeom prst="rect">
            <a:avLst/>
          </a:prstGeom>
          <a:noFill/>
        </p:spPr>
        <p:txBody>
          <a:bodyPr wrap="square" rtlCol="0">
            <a:spAutoFit/>
          </a:bodyPr>
          <a:lstStyle/>
          <a:p>
            <a:r>
              <a:rPr lang="en-US" sz="4000" b="1" dirty="0">
                <a:solidFill>
                  <a:schemeClr val="tx2">
                    <a:lumMod val="50000"/>
                    <a:lumOff val="50000"/>
                  </a:schemeClr>
                </a:solidFill>
                <a:latin typeface="+mj-lt"/>
              </a:rPr>
              <a:t>Policies and Procedures :</a:t>
            </a:r>
            <a:endParaRPr lang="en-IN" sz="4000" b="1" dirty="0">
              <a:solidFill>
                <a:schemeClr val="tx2">
                  <a:lumMod val="50000"/>
                  <a:lumOff val="50000"/>
                </a:schemeClr>
              </a:solidFill>
              <a:latin typeface="+mj-lt"/>
            </a:endParaRPr>
          </a:p>
        </p:txBody>
      </p:sp>
      <p:sp>
        <p:nvSpPr>
          <p:cNvPr id="4" name="Rectangle 2">
            <a:extLst>
              <a:ext uri="{FF2B5EF4-FFF2-40B4-BE49-F238E27FC236}">
                <a16:creationId xmlns:a16="http://schemas.microsoft.com/office/drawing/2014/main" id="{5B91FEEA-2F2E-4C13-CCC3-EA8D5F1D78BC}"/>
              </a:ext>
            </a:extLst>
          </p:cNvPr>
          <p:cNvSpPr>
            <a:spLocks noChangeArrowheads="1"/>
          </p:cNvSpPr>
          <p:nvPr/>
        </p:nvSpPr>
        <p:spPr bwMode="auto">
          <a:xfrm>
            <a:off x="793821" y="1705697"/>
            <a:ext cx="910726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accent5">
                    <a:lumMod val="75000"/>
                  </a:schemeClr>
                </a:solidFill>
                <a:effectLst/>
                <a:latin typeface="Arial" panose="020B0604020202020204" pitchFamily="34" charset="0"/>
              </a:rPr>
              <a:t>Policies and procedures of data governance </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are the rules and guidelines that define how data is managed across an organization. They typically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Data access rules: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Who can view, edit, or share specific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Data usage standards: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How data should be collected, processed, and maintained.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Security policies: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Measures to protect data from unauthorized access, breaches, or loss.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Compliance procedures: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Ensuring all data handling follows legal and regulatory requirements.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Tree>
    <p:extLst>
      <p:ext uri="{BB962C8B-B14F-4D97-AF65-F5344CB8AC3E}">
        <p14:creationId xmlns:p14="http://schemas.microsoft.com/office/powerpoint/2010/main" val="3317998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E34F1E-0EDC-69F6-B8A1-2B60EBA7B1C5}"/>
              </a:ext>
            </a:extLst>
          </p:cNvPr>
          <p:cNvSpPr txBox="1"/>
          <p:nvPr/>
        </p:nvSpPr>
        <p:spPr>
          <a:xfrm>
            <a:off x="831311" y="828680"/>
            <a:ext cx="6636774" cy="707886"/>
          </a:xfrm>
          <a:prstGeom prst="rect">
            <a:avLst/>
          </a:prstGeom>
          <a:noFill/>
        </p:spPr>
        <p:txBody>
          <a:bodyPr wrap="square" rtlCol="0">
            <a:spAutoFit/>
          </a:bodyPr>
          <a:lstStyle/>
          <a:p>
            <a:r>
              <a:rPr lang="en-US" sz="4000" b="1" dirty="0">
                <a:solidFill>
                  <a:schemeClr val="tx2">
                    <a:lumMod val="50000"/>
                    <a:lumOff val="50000"/>
                  </a:schemeClr>
                </a:solidFill>
                <a:latin typeface="+mj-lt"/>
              </a:rPr>
              <a:t>Roles and Responsibilities :</a:t>
            </a:r>
            <a:endParaRPr lang="en-IN" sz="4000" b="1" dirty="0">
              <a:solidFill>
                <a:schemeClr val="tx2">
                  <a:lumMod val="50000"/>
                  <a:lumOff val="50000"/>
                </a:schemeClr>
              </a:solidFill>
              <a:latin typeface="+mj-lt"/>
            </a:endParaRPr>
          </a:p>
        </p:txBody>
      </p:sp>
      <p:sp>
        <p:nvSpPr>
          <p:cNvPr id="5" name="Rectangle 3">
            <a:extLst>
              <a:ext uri="{FF2B5EF4-FFF2-40B4-BE49-F238E27FC236}">
                <a16:creationId xmlns:a16="http://schemas.microsoft.com/office/drawing/2014/main" id="{2B551882-02CF-0675-42FA-D65220E7563C}"/>
              </a:ext>
            </a:extLst>
          </p:cNvPr>
          <p:cNvSpPr>
            <a:spLocks noChangeArrowheads="1"/>
          </p:cNvSpPr>
          <p:nvPr/>
        </p:nvSpPr>
        <p:spPr bwMode="auto">
          <a:xfrm>
            <a:off x="831311" y="2089780"/>
            <a:ext cx="927625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accent5">
                    <a:lumMod val="75000"/>
                  </a:schemeClr>
                </a:solidFill>
                <a:effectLst/>
                <a:latin typeface="Arial" panose="020B0604020202020204" pitchFamily="34" charset="0"/>
              </a:rPr>
              <a:t>Roles and responsibilities of data governance </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define who manages, monitors, and uses data within an organization. Key roles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Data Owners: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Define data policies, ensure data aligns with business needs, and approve access rights.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Data Stewards: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Maintain data quality, enforce standards, and manage day-to-day handling of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Data Users: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Access and use data responsibly for analysis, decision-making, and operations.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Tree>
    <p:extLst>
      <p:ext uri="{BB962C8B-B14F-4D97-AF65-F5344CB8AC3E}">
        <p14:creationId xmlns:p14="http://schemas.microsoft.com/office/powerpoint/2010/main" val="590656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E91842-1AA0-C679-EF93-602FB3839981}"/>
              </a:ext>
            </a:extLst>
          </p:cNvPr>
          <p:cNvSpPr txBox="1"/>
          <p:nvPr/>
        </p:nvSpPr>
        <p:spPr>
          <a:xfrm>
            <a:off x="550606" y="591457"/>
            <a:ext cx="6705600" cy="707886"/>
          </a:xfrm>
          <a:prstGeom prst="rect">
            <a:avLst/>
          </a:prstGeom>
          <a:noFill/>
        </p:spPr>
        <p:txBody>
          <a:bodyPr wrap="square" rtlCol="0">
            <a:spAutoFit/>
          </a:bodyPr>
          <a:lstStyle/>
          <a:p>
            <a:r>
              <a:rPr lang="en-US" sz="4000" b="1" dirty="0">
                <a:solidFill>
                  <a:schemeClr val="tx2">
                    <a:lumMod val="50000"/>
                    <a:lumOff val="50000"/>
                  </a:schemeClr>
                </a:solidFill>
                <a:latin typeface="+mj-lt"/>
              </a:rPr>
              <a:t>Principles of Data Ethics</a:t>
            </a:r>
            <a:endParaRPr lang="en-IN" sz="4000" b="1" dirty="0">
              <a:solidFill>
                <a:schemeClr val="tx2">
                  <a:lumMod val="50000"/>
                  <a:lumOff val="50000"/>
                </a:schemeClr>
              </a:solidFill>
              <a:latin typeface="+mj-lt"/>
            </a:endParaRPr>
          </a:p>
        </p:txBody>
      </p:sp>
      <p:sp>
        <p:nvSpPr>
          <p:cNvPr id="4" name="Rectangle 2">
            <a:extLst>
              <a:ext uri="{FF2B5EF4-FFF2-40B4-BE49-F238E27FC236}">
                <a16:creationId xmlns:a16="http://schemas.microsoft.com/office/drawing/2014/main" id="{DDF746C5-4300-F005-619E-7AE3FB71859B}"/>
              </a:ext>
            </a:extLst>
          </p:cNvPr>
          <p:cNvSpPr>
            <a:spLocks noChangeArrowheads="1"/>
          </p:cNvSpPr>
          <p:nvPr/>
        </p:nvSpPr>
        <p:spPr bwMode="auto">
          <a:xfrm>
            <a:off x="550606" y="1711450"/>
            <a:ext cx="938980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accent5">
                    <a:lumMod val="75000"/>
                  </a:schemeClr>
                </a:solidFill>
                <a:effectLst/>
                <a:latin typeface="Arial" panose="020B0604020202020204" pitchFamily="34" charset="0"/>
              </a:rPr>
              <a:t>Principles of Data Ethics </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guide organizations to handle data responsibly and fairly. Key principles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Fair and ethical data use:</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Data should be collected and used without bias, discrimination, or harm.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Responsible data handling:</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Protect privacy, ensure accuracy, and be accountable for how data is managed.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Transparency:</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Clearly communicate how data is collected, used, and shared.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Accountability:</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Hold individuals and organizations responsible for misuse or unethical handling of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Tree>
    <p:extLst>
      <p:ext uri="{BB962C8B-B14F-4D97-AF65-F5344CB8AC3E}">
        <p14:creationId xmlns:p14="http://schemas.microsoft.com/office/powerpoint/2010/main" val="2886686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D2A25E-9C2A-871A-66EB-D73AD85091E5}"/>
              </a:ext>
            </a:extLst>
          </p:cNvPr>
          <p:cNvSpPr txBox="1"/>
          <p:nvPr/>
        </p:nvSpPr>
        <p:spPr>
          <a:xfrm>
            <a:off x="688258" y="861410"/>
            <a:ext cx="7177548" cy="707886"/>
          </a:xfrm>
          <a:prstGeom prst="rect">
            <a:avLst/>
          </a:prstGeom>
          <a:noFill/>
        </p:spPr>
        <p:txBody>
          <a:bodyPr wrap="square" rtlCol="0">
            <a:spAutoFit/>
          </a:bodyPr>
          <a:lstStyle/>
          <a:p>
            <a:r>
              <a:rPr lang="en-US" sz="4000" b="1" dirty="0">
                <a:solidFill>
                  <a:schemeClr val="tx2">
                    <a:lumMod val="50000"/>
                    <a:lumOff val="50000"/>
                  </a:schemeClr>
                </a:solidFill>
                <a:latin typeface="+mj-lt"/>
              </a:rPr>
              <a:t>Privacy and Confidentiality</a:t>
            </a:r>
            <a:endParaRPr lang="en-IN" sz="4000" b="1" dirty="0">
              <a:solidFill>
                <a:schemeClr val="tx2">
                  <a:lumMod val="50000"/>
                  <a:lumOff val="50000"/>
                </a:schemeClr>
              </a:solidFill>
              <a:latin typeface="+mj-lt"/>
            </a:endParaRPr>
          </a:p>
        </p:txBody>
      </p:sp>
      <p:sp>
        <p:nvSpPr>
          <p:cNvPr id="4" name="Rectangle 2">
            <a:extLst>
              <a:ext uri="{FF2B5EF4-FFF2-40B4-BE49-F238E27FC236}">
                <a16:creationId xmlns:a16="http://schemas.microsoft.com/office/drawing/2014/main" id="{7D56E633-53B1-6F39-FF80-88FB2E9E2325}"/>
              </a:ext>
            </a:extLst>
          </p:cNvPr>
          <p:cNvSpPr>
            <a:spLocks noChangeArrowheads="1"/>
          </p:cNvSpPr>
          <p:nvPr/>
        </p:nvSpPr>
        <p:spPr bwMode="auto">
          <a:xfrm>
            <a:off x="688258" y="1918550"/>
            <a:ext cx="925215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accent5">
                    <a:lumMod val="75000"/>
                  </a:schemeClr>
                </a:solidFill>
                <a:effectLst/>
                <a:latin typeface="Arial" panose="020B0604020202020204" pitchFamily="34" charset="0"/>
              </a:rPr>
              <a:t>Privacy and Confidentiality in Data Ethics </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focus on protecting personal and sensitive information. Key points: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Protection of personal data:</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Safeguard individuals’ information from unauthorized access, misuse, or disclosure.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Secure storage and access: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Ensure data is stored safely and only accessible to authorized personnel.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Respect for user rights: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Handle data according to privacy laws and consent agreements.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Tree>
    <p:extLst>
      <p:ext uri="{BB962C8B-B14F-4D97-AF65-F5344CB8AC3E}">
        <p14:creationId xmlns:p14="http://schemas.microsoft.com/office/powerpoint/2010/main" val="2327906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AD3466-9934-7CF5-0331-33D7492FD12E}"/>
              </a:ext>
            </a:extLst>
          </p:cNvPr>
          <p:cNvSpPr txBox="1"/>
          <p:nvPr/>
        </p:nvSpPr>
        <p:spPr>
          <a:xfrm>
            <a:off x="727587" y="807097"/>
            <a:ext cx="8332839" cy="707886"/>
          </a:xfrm>
          <a:prstGeom prst="rect">
            <a:avLst/>
          </a:prstGeom>
          <a:noFill/>
        </p:spPr>
        <p:txBody>
          <a:bodyPr wrap="square" rtlCol="0">
            <a:spAutoFit/>
          </a:bodyPr>
          <a:lstStyle/>
          <a:p>
            <a:r>
              <a:rPr lang="en-US" sz="4000" b="1" dirty="0">
                <a:solidFill>
                  <a:schemeClr val="tx2">
                    <a:lumMod val="50000"/>
                    <a:lumOff val="50000"/>
                  </a:schemeClr>
                </a:solidFill>
                <a:latin typeface="+mj-lt"/>
              </a:rPr>
              <a:t>Transparency and Accountability</a:t>
            </a:r>
            <a:endParaRPr lang="en-IN" sz="4000" b="1" dirty="0">
              <a:solidFill>
                <a:schemeClr val="tx2">
                  <a:lumMod val="50000"/>
                  <a:lumOff val="50000"/>
                </a:schemeClr>
              </a:solidFill>
              <a:latin typeface="+mj-lt"/>
            </a:endParaRPr>
          </a:p>
        </p:txBody>
      </p:sp>
      <p:sp>
        <p:nvSpPr>
          <p:cNvPr id="4" name="Rectangle 2">
            <a:extLst>
              <a:ext uri="{FF2B5EF4-FFF2-40B4-BE49-F238E27FC236}">
                <a16:creationId xmlns:a16="http://schemas.microsoft.com/office/drawing/2014/main" id="{F43E6C65-5A6D-1B71-28D9-57EEE37C2C72}"/>
              </a:ext>
            </a:extLst>
          </p:cNvPr>
          <p:cNvSpPr>
            <a:spLocks noChangeArrowheads="1"/>
          </p:cNvSpPr>
          <p:nvPr/>
        </p:nvSpPr>
        <p:spPr bwMode="auto">
          <a:xfrm>
            <a:off x="727587" y="2111363"/>
            <a:ext cx="916366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accent5">
                    <a:lumMod val="75000"/>
                  </a:schemeClr>
                </a:solidFill>
                <a:effectLst/>
                <a:latin typeface="Arial" panose="020B0604020202020204" pitchFamily="34" charset="0"/>
              </a:rPr>
              <a:t>Transparency and Accountability in Data Ethics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ensure that data is used openly and responsibly. Key points: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Clear data usage policies: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Organizations should openly communicate how data is collected, stored, and used.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Accountability for misuse:</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Individuals or teams are held responsible for improper handling, breaches, or unethical use of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Openness in decision-making:</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Stakeholders should understand how data informs business decisions.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p:txBody>
      </p:sp>
    </p:spTree>
    <p:extLst>
      <p:ext uri="{BB962C8B-B14F-4D97-AF65-F5344CB8AC3E}">
        <p14:creationId xmlns:p14="http://schemas.microsoft.com/office/powerpoint/2010/main" val="2148764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D7FA49-1C37-FD63-68C2-CB3854AA823D}"/>
              </a:ext>
            </a:extLst>
          </p:cNvPr>
          <p:cNvSpPr>
            <a:spLocks noChangeArrowheads="1"/>
          </p:cNvSpPr>
          <p:nvPr/>
        </p:nvSpPr>
        <p:spPr bwMode="auto">
          <a:xfrm>
            <a:off x="602226" y="2312472"/>
            <a:ext cx="950533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GDPR:</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A European regulation that protects individuals’ personal data and privacy, requiring organizations to handle data responsibly.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CCPA:</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A California law giving consumers rights over their personal data, including access, deletion, and opt-out of sales.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5">
                    <a:lumMod val="75000"/>
                  </a:schemeClr>
                </a:solidFill>
                <a:effectLst/>
                <a:latin typeface="Arial" panose="020B0604020202020204" pitchFamily="34" charset="0"/>
              </a:rPr>
              <a:t>Other data protection laws:</a:t>
            </a:r>
            <a:r>
              <a:rPr kumimoji="0" lang="en-US" altLang="en-US" sz="2000" b="0" i="0" u="none" strike="noStrike" cap="none" normalizeH="0" baseline="0" dirty="0">
                <a:ln>
                  <a:noFill/>
                </a:ln>
                <a:solidFill>
                  <a:schemeClr val="accent5">
                    <a:lumMod val="75000"/>
                  </a:schemeClr>
                </a:solidFill>
                <a:effectLst/>
                <a:latin typeface="Arial" panose="020B0604020202020204" pitchFamily="34" charset="0"/>
              </a:rPr>
              <a:t> Various regional and industry-specific regulations ensure organizations manage data securely and ethically.</a:t>
            </a:r>
          </a:p>
        </p:txBody>
      </p:sp>
      <p:sp>
        <p:nvSpPr>
          <p:cNvPr id="3" name="TextBox 2">
            <a:extLst>
              <a:ext uri="{FF2B5EF4-FFF2-40B4-BE49-F238E27FC236}">
                <a16:creationId xmlns:a16="http://schemas.microsoft.com/office/drawing/2014/main" id="{A2240F30-4928-1700-DD8A-84665437AD04}"/>
              </a:ext>
            </a:extLst>
          </p:cNvPr>
          <p:cNvSpPr txBox="1"/>
          <p:nvPr/>
        </p:nvSpPr>
        <p:spPr>
          <a:xfrm>
            <a:off x="602226" y="1223871"/>
            <a:ext cx="6430296" cy="707886"/>
          </a:xfrm>
          <a:prstGeom prst="rect">
            <a:avLst/>
          </a:prstGeom>
          <a:noFill/>
        </p:spPr>
        <p:txBody>
          <a:bodyPr wrap="square" rtlCol="0">
            <a:spAutoFit/>
          </a:bodyPr>
          <a:lstStyle/>
          <a:p>
            <a:r>
              <a:rPr lang="en-US" sz="4000" b="1" dirty="0">
                <a:solidFill>
                  <a:schemeClr val="tx2">
                    <a:lumMod val="50000"/>
                    <a:lumOff val="50000"/>
                  </a:schemeClr>
                </a:solidFill>
                <a:latin typeface="+mj-lt"/>
              </a:rPr>
              <a:t>Regulatory Compliance</a:t>
            </a:r>
            <a:endParaRPr lang="en-IN" sz="4000" b="1" dirty="0">
              <a:solidFill>
                <a:schemeClr val="tx2">
                  <a:lumMod val="50000"/>
                  <a:lumOff val="50000"/>
                </a:schemeClr>
              </a:solidFill>
              <a:latin typeface="+mj-lt"/>
            </a:endParaRPr>
          </a:p>
        </p:txBody>
      </p:sp>
    </p:spTree>
    <p:extLst>
      <p:ext uri="{BB962C8B-B14F-4D97-AF65-F5344CB8AC3E}">
        <p14:creationId xmlns:p14="http://schemas.microsoft.com/office/powerpoint/2010/main" val="1575274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130F63-C20D-4FD5-0EA9-8A870F9B4136}"/>
              </a:ext>
            </a:extLst>
          </p:cNvPr>
          <p:cNvSpPr>
            <a:spLocks noChangeArrowheads="1"/>
          </p:cNvSpPr>
          <p:nvPr/>
        </p:nvSpPr>
        <p:spPr bwMode="auto">
          <a:xfrm>
            <a:off x="796414" y="2234577"/>
            <a:ext cx="905551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5">
                    <a:lumMod val="75000"/>
                  </a:schemeClr>
                </a:solidFill>
                <a:effectLst/>
                <a:latin typeface="Arial" panose="020B0604020202020204" pitchFamily="34" charset="0"/>
              </a:rPr>
              <a:t>Ethical awareness:</a:t>
            </a:r>
            <a:r>
              <a:rPr kumimoji="0" lang="en-US" altLang="en-US" sz="2400" b="0" i="0" u="none" strike="noStrike" cap="none" normalizeH="0" baseline="0" dirty="0">
                <a:ln>
                  <a:noFill/>
                </a:ln>
                <a:solidFill>
                  <a:schemeClr val="accent5">
                    <a:lumMod val="75000"/>
                  </a:schemeClr>
                </a:solidFill>
                <a:effectLst/>
                <a:latin typeface="Arial" panose="020B0604020202020204" pitchFamily="34" charset="0"/>
              </a:rPr>
              <a:t> Encourage employees to understand the importance of using data responsibly and fairly.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5">
                    <a:lumMod val="75000"/>
                  </a:schemeClr>
                </a:solidFill>
                <a:effectLst/>
                <a:latin typeface="Arial" panose="020B0604020202020204" pitchFamily="34" charset="0"/>
              </a:rPr>
              <a:t>Training and compliance:</a:t>
            </a:r>
            <a:r>
              <a:rPr kumimoji="0" lang="en-US" altLang="en-US" sz="2400" b="0" i="0" u="none" strike="noStrike" cap="none" normalizeH="0" baseline="0" dirty="0">
                <a:ln>
                  <a:noFill/>
                </a:ln>
                <a:solidFill>
                  <a:schemeClr val="accent5">
                    <a:lumMod val="75000"/>
                  </a:schemeClr>
                </a:solidFill>
                <a:effectLst/>
                <a:latin typeface="Arial" panose="020B0604020202020204" pitchFamily="34" charset="0"/>
              </a:rPr>
              <a:t> Provide regular education on data policies, privacy rules, and best practices.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accent5">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5">
                    <a:lumMod val="75000"/>
                  </a:schemeClr>
                </a:solidFill>
                <a:effectLst/>
                <a:latin typeface="Arial" panose="020B0604020202020204" pitchFamily="34" charset="0"/>
              </a:rPr>
              <a:t>Continuous monitoring:</a:t>
            </a:r>
            <a:r>
              <a:rPr kumimoji="0" lang="en-US" altLang="en-US" sz="2400" b="0" i="0" u="none" strike="noStrike" cap="none" normalizeH="0" baseline="0" dirty="0">
                <a:ln>
                  <a:noFill/>
                </a:ln>
                <a:solidFill>
                  <a:schemeClr val="accent5">
                    <a:lumMod val="75000"/>
                  </a:schemeClr>
                </a:solidFill>
                <a:effectLst/>
                <a:latin typeface="Arial" panose="020B0604020202020204" pitchFamily="34" charset="0"/>
              </a:rPr>
              <a:t> Regularly track data usage to ensure adherence to ethical standards and prevent misuse.</a:t>
            </a:r>
          </a:p>
        </p:txBody>
      </p:sp>
      <p:sp>
        <p:nvSpPr>
          <p:cNvPr id="3" name="TextBox 2">
            <a:extLst>
              <a:ext uri="{FF2B5EF4-FFF2-40B4-BE49-F238E27FC236}">
                <a16:creationId xmlns:a16="http://schemas.microsoft.com/office/drawing/2014/main" id="{7C1849A7-4880-067A-4343-5339FBC9C737}"/>
              </a:ext>
            </a:extLst>
          </p:cNvPr>
          <p:cNvSpPr txBox="1"/>
          <p:nvPr/>
        </p:nvSpPr>
        <p:spPr>
          <a:xfrm>
            <a:off x="796414" y="1207103"/>
            <a:ext cx="10933471" cy="646331"/>
          </a:xfrm>
          <a:prstGeom prst="rect">
            <a:avLst/>
          </a:prstGeom>
          <a:noFill/>
        </p:spPr>
        <p:txBody>
          <a:bodyPr wrap="square" rtlCol="0">
            <a:spAutoFit/>
          </a:bodyPr>
          <a:lstStyle/>
          <a:p>
            <a:r>
              <a:rPr lang="en-US" sz="3600" b="1" dirty="0">
                <a:solidFill>
                  <a:schemeClr val="tx2">
                    <a:lumMod val="50000"/>
                    <a:lumOff val="50000"/>
                  </a:schemeClr>
                </a:solidFill>
                <a:latin typeface="+mj-lt"/>
              </a:rPr>
              <a:t>Building a Culture of Responsibility Data use</a:t>
            </a:r>
            <a:endParaRPr lang="en-IN" sz="3600" b="1" dirty="0">
              <a:solidFill>
                <a:schemeClr val="tx2">
                  <a:lumMod val="50000"/>
                  <a:lumOff val="50000"/>
                </a:schemeClr>
              </a:solidFill>
              <a:latin typeface="+mj-lt"/>
            </a:endParaRPr>
          </a:p>
        </p:txBody>
      </p:sp>
    </p:spTree>
    <p:extLst>
      <p:ext uri="{BB962C8B-B14F-4D97-AF65-F5344CB8AC3E}">
        <p14:creationId xmlns:p14="http://schemas.microsoft.com/office/powerpoint/2010/main" val="468181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B717BA-BE20-9B24-E67B-7066B58339C6}"/>
              </a:ext>
            </a:extLst>
          </p:cNvPr>
          <p:cNvSpPr txBox="1"/>
          <p:nvPr/>
        </p:nvSpPr>
        <p:spPr>
          <a:xfrm>
            <a:off x="2128684" y="2444133"/>
            <a:ext cx="7934632" cy="2677656"/>
          </a:xfrm>
          <a:prstGeom prst="rect">
            <a:avLst/>
          </a:prstGeom>
          <a:noFill/>
        </p:spPr>
        <p:txBody>
          <a:bodyPr wrap="square">
            <a:spAutoFit/>
          </a:bodyPr>
          <a:lstStyle/>
          <a:p>
            <a:pPr>
              <a:buNone/>
            </a:pPr>
            <a:r>
              <a:rPr lang="en-US" sz="2800" dirty="0">
                <a:solidFill>
                  <a:schemeClr val="accent5">
                    <a:lumMod val="75000"/>
                  </a:schemeClr>
                </a:solidFill>
              </a:rPr>
              <a:t>Information technology and data are essential for modern businesses, enabling efficiency, innovation, and informed decision-making. Adopting data-driven strategies while maintaining ethical and responsible practices ensures sustainable growth and long-term success.</a:t>
            </a:r>
          </a:p>
        </p:txBody>
      </p:sp>
      <p:sp>
        <p:nvSpPr>
          <p:cNvPr id="5" name="TextBox 4">
            <a:extLst>
              <a:ext uri="{FF2B5EF4-FFF2-40B4-BE49-F238E27FC236}">
                <a16:creationId xmlns:a16="http://schemas.microsoft.com/office/drawing/2014/main" id="{89A90679-621F-A397-F2C1-C7443CE0BA63}"/>
              </a:ext>
            </a:extLst>
          </p:cNvPr>
          <p:cNvSpPr txBox="1"/>
          <p:nvPr/>
        </p:nvSpPr>
        <p:spPr>
          <a:xfrm>
            <a:off x="4462616" y="909238"/>
            <a:ext cx="3266768" cy="769441"/>
          </a:xfrm>
          <a:prstGeom prst="rect">
            <a:avLst/>
          </a:prstGeom>
          <a:noFill/>
        </p:spPr>
        <p:txBody>
          <a:bodyPr wrap="square" rtlCol="0">
            <a:spAutoFit/>
          </a:bodyPr>
          <a:lstStyle/>
          <a:p>
            <a:r>
              <a:rPr lang="en-US" sz="4400" b="1" dirty="0">
                <a:solidFill>
                  <a:schemeClr val="tx2">
                    <a:lumMod val="50000"/>
                    <a:lumOff val="50000"/>
                  </a:schemeClr>
                </a:solidFill>
                <a:latin typeface="+mj-lt"/>
              </a:rPr>
              <a:t>Conclusion</a:t>
            </a:r>
            <a:endParaRPr lang="en-IN" sz="4400" b="1" dirty="0">
              <a:solidFill>
                <a:schemeClr val="tx2">
                  <a:lumMod val="50000"/>
                  <a:lumOff val="50000"/>
                </a:schemeClr>
              </a:solidFill>
              <a:latin typeface="+mj-lt"/>
            </a:endParaRPr>
          </a:p>
        </p:txBody>
      </p:sp>
    </p:spTree>
    <p:extLst>
      <p:ext uri="{BB962C8B-B14F-4D97-AF65-F5344CB8AC3E}">
        <p14:creationId xmlns:p14="http://schemas.microsoft.com/office/powerpoint/2010/main" val="3284084467"/>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798</TotalTime>
  <Words>2346</Words>
  <Application>Microsoft Office PowerPoint</Application>
  <PresentationFormat>Widescreen</PresentationFormat>
  <Paragraphs>245</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 Light</vt:lpstr>
      <vt:lpstr>Metropolitan</vt:lpstr>
      <vt:lpstr>INFORMATION TECHNOLOGY</vt:lpstr>
      <vt:lpstr>What is Information Technology ?</vt:lpstr>
      <vt:lpstr>Role of IT in Business Operations</vt:lpstr>
      <vt:lpstr>Overview of Business Systems</vt:lpstr>
      <vt:lpstr>Interplay Between IT and Business Strategy</vt:lpstr>
      <vt:lpstr>Understanding Different Data Types</vt:lpstr>
      <vt:lpstr>Common Data Sources</vt:lpstr>
      <vt:lpstr>Data Collection Methods</vt:lpstr>
      <vt:lpstr>Data Lifecycle Management</vt:lpstr>
      <vt:lpstr>Data Quality and Integrity</vt:lpstr>
      <vt:lpstr>Business Analyst – Definition</vt:lpstr>
      <vt:lpstr>Responsibilities of a Business Analyst</vt:lpstr>
      <vt:lpstr>Key Skills for Business Analysts</vt:lpstr>
      <vt:lpstr>Business Analysis Methodologies</vt:lpstr>
      <vt:lpstr>Stakeholder Management</vt:lpstr>
      <vt:lpstr>Data vs Information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Moumita Akhuli</dc:creator>
  <cp:lastModifiedBy>Ankita Dawn</cp:lastModifiedBy>
  <cp:revision>17</cp:revision>
  <dcterms:created xsi:type="dcterms:W3CDTF">2026-01-09T18:45:35Z</dcterms:created>
  <dcterms:modified xsi:type="dcterms:W3CDTF">2026-01-13T08:44:31Z</dcterms:modified>
</cp:coreProperties>
</file>